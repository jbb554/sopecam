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A0E"/>
        </a:solidFill>
      </p:bgPr>
    </p:bg>
    <p:spTree>
      <p:nvGrpSpPr>
        <p:cNvPr id="1" name=""/>
        <p:cNvGrpSpPr/>
        <p:nvPr/>
      </p:nvGrpSpPr>
      <p:grpSpPr>
        <a:xfrm>
          <a:off x="0" y="0"/>
          <a:ext cx="0" cy="0"/>
          <a:chOff x="0" y="0"/>
          <a:chExt cx="0" cy="0"/>
        </a:xfrm>
      </p:grpSpPr>
      <p:sp>
        <p:nvSpPr>
          <p:cNvPr id="2" name="Shape 0"/>
          <p:cNvSpPr/>
          <p:nvPr/>
        </p:nvSpPr>
        <p:spPr>
          <a:xfrm>
            <a:off x="0" y="0"/>
            <a:ext cx="36576" cy="5143500"/>
          </a:xfrm>
          <a:prstGeom prst="rect">
            <a:avLst/>
          </a:prstGeom>
          <a:solidFill>
            <a:srgbClr val="C9A84C"/>
          </a:solidFill>
          <a:ln/>
        </p:spPr>
      </p:sp>
      <p:sp>
        <p:nvSpPr>
          <p:cNvPr id="3" name="Shape 1"/>
          <p:cNvSpPr/>
          <p:nvPr/>
        </p:nvSpPr>
        <p:spPr>
          <a:xfrm>
            <a:off x="6217920" y="0"/>
            <a:ext cx="2926080" cy="5143500"/>
          </a:xfrm>
          <a:prstGeom prst="rect">
            <a:avLst/>
          </a:prstGeom>
          <a:solidFill>
            <a:srgbClr val="0D1017"/>
          </a:solidFill>
          <a:ln/>
        </p:spPr>
      </p:sp>
      <p:sp>
        <p:nvSpPr>
          <p:cNvPr id="4" name="Shape 2"/>
          <p:cNvSpPr/>
          <p:nvPr/>
        </p:nvSpPr>
        <p:spPr>
          <a:xfrm>
            <a:off x="8869680" y="0"/>
            <a:ext cx="274320" cy="5143500"/>
          </a:xfrm>
          <a:prstGeom prst="rect">
            <a:avLst/>
          </a:prstGeom>
          <a:solidFill>
            <a:srgbClr val="8A6A20"/>
          </a:solidFill>
          <a:ln/>
        </p:spPr>
      </p:sp>
      <p:sp>
        <p:nvSpPr>
          <p:cNvPr id="5" name="Text 3"/>
          <p:cNvSpPr/>
          <p:nvPr/>
        </p:nvSpPr>
        <p:spPr>
          <a:xfrm>
            <a:off x="320040" y="502920"/>
            <a:ext cx="5486400" cy="274320"/>
          </a:xfrm>
          <a:prstGeom prst="rect">
            <a:avLst/>
          </a:prstGeom>
          <a:noFill/>
          <a:ln/>
        </p:spPr>
        <p:txBody>
          <a:bodyPr wrap="square" rtlCol="0" anchor="ctr"/>
          <a:lstStyle/>
          <a:p>
            <a:pPr indent="0" marL="0">
              <a:buNone/>
            </a:pPr>
            <a:r>
              <a:rPr lang="en-US" sz="900" spc="400" kern="0" dirty="0">
                <a:solidFill>
                  <a:srgbClr val="8A6A20"/>
                </a:solidFill>
                <a:latin typeface="Calibri" pitchFamily="34" charset="0"/>
                <a:ea typeface="Calibri" pitchFamily="34" charset="-122"/>
                <a:cs typeface="Calibri" pitchFamily="34" charset="-120"/>
              </a:rPr>
              <a:t>NOTE DE PRÉSENTATION</a:t>
            </a:r>
            <a:endParaRPr lang="en-US" sz="900" dirty="0"/>
          </a:p>
        </p:txBody>
      </p:sp>
      <p:sp>
        <p:nvSpPr>
          <p:cNvPr id="6" name="Text 4"/>
          <p:cNvSpPr/>
          <p:nvPr/>
        </p:nvSpPr>
        <p:spPr>
          <a:xfrm>
            <a:off x="320040" y="749808"/>
            <a:ext cx="5486400" cy="274320"/>
          </a:xfrm>
          <a:prstGeom prst="rect">
            <a:avLst/>
          </a:prstGeom>
          <a:noFill/>
          <a:ln/>
        </p:spPr>
        <p:txBody>
          <a:bodyPr wrap="square" rtlCol="0" anchor="ctr"/>
          <a:lstStyle/>
          <a:p>
            <a:pPr indent="0" marL="0">
              <a:buNone/>
            </a:pPr>
            <a:r>
              <a:rPr lang="en-US" sz="900" spc="400" kern="0" dirty="0">
                <a:solidFill>
                  <a:srgbClr val="8A6A20"/>
                </a:solidFill>
                <a:latin typeface="Calibri" pitchFamily="34" charset="0"/>
                <a:ea typeface="Calibri" pitchFamily="34" charset="-122"/>
                <a:cs typeface="Calibri" pitchFamily="34" charset="-120"/>
              </a:rPr>
              <a:t>AU CONSEIL D'ADMINISTRATION</a:t>
            </a:r>
            <a:endParaRPr lang="en-US" sz="900" dirty="0"/>
          </a:p>
        </p:txBody>
      </p:sp>
      <p:sp>
        <p:nvSpPr>
          <p:cNvPr id="7" name="Text 5"/>
          <p:cNvSpPr/>
          <p:nvPr/>
        </p:nvSpPr>
        <p:spPr>
          <a:xfrm>
            <a:off x="320040" y="1188720"/>
            <a:ext cx="5486400" cy="1645920"/>
          </a:xfrm>
          <a:prstGeom prst="rect">
            <a:avLst/>
          </a:prstGeom>
          <a:noFill/>
          <a:ln/>
        </p:spPr>
        <p:txBody>
          <a:bodyPr wrap="square" rtlCol="0" anchor="ctr"/>
          <a:lstStyle/>
          <a:p>
            <a:pPr indent="0" marL="0">
              <a:lnSpc>
                <a:spcPct val="110000"/>
              </a:lnSpc>
              <a:buNone/>
            </a:pPr>
            <a:r>
              <a:rPr lang="en-US" sz="5200" b="1" dirty="0">
                <a:solidFill>
                  <a:srgbClr val="E8E4D9"/>
                </a:solidFill>
                <a:latin typeface="Georgia" pitchFamily="34" charset="0"/>
                <a:ea typeface="Georgia" pitchFamily="34" charset="-122"/>
                <a:cs typeface="Georgia" pitchFamily="34" charset="-120"/>
              </a:rPr>
              <a:t>SOPECAM</a:t>
            </a:r>
            <a:endParaRPr lang="en-US" sz="5200" dirty="0"/>
          </a:p>
          <a:p>
            <a:pPr indent="0" marL="0">
              <a:lnSpc>
                <a:spcPct val="110000"/>
              </a:lnSpc>
              <a:buNone/>
            </a:pPr>
            <a:r>
              <a:rPr lang="en-US" sz="5200" b="1" dirty="0">
                <a:solidFill>
                  <a:srgbClr val="E8E4D9"/>
                </a:solidFill>
                <a:latin typeface="Georgia" pitchFamily="34" charset="0"/>
                <a:ea typeface="Georgia" pitchFamily="34" charset="-122"/>
                <a:cs typeface="Georgia" pitchFamily="34" charset="-120"/>
              </a:rPr>
              <a:t>CAPITAL</a:t>
            </a:r>
            <a:endParaRPr lang="en-US" sz="5200" dirty="0"/>
          </a:p>
        </p:txBody>
      </p:sp>
      <p:sp>
        <p:nvSpPr>
          <p:cNvPr id="8" name="Text 6"/>
          <p:cNvSpPr/>
          <p:nvPr/>
        </p:nvSpPr>
        <p:spPr>
          <a:xfrm>
            <a:off x="320040" y="2880360"/>
            <a:ext cx="5486400" cy="731520"/>
          </a:xfrm>
          <a:prstGeom prst="rect">
            <a:avLst/>
          </a:prstGeom>
          <a:noFill/>
          <a:ln/>
        </p:spPr>
        <p:txBody>
          <a:bodyPr wrap="square" rtlCol="0" anchor="ctr"/>
          <a:lstStyle/>
          <a:p>
            <a:pPr indent="0" marL="0">
              <a:buNone/>
            </a:pPr>
            <a:r>
              <a:rPr lang="en-US" sz="1800" i="1" dirty="0">
                <a:solidFill>
                  <a:srgbClr val="C9A84C"/>
                </a:solidFill>
                <a:latin typeface="Georgia" pitchFamily="34" charset="0"/>
                <a:ea typeface="Georgia" pitchFamily="34" charset="-122"/>
                <a:cs typeface="Georgia" pitchFamily="34" charset="-120"/>
              </a:rPr>
              <a:t>Intelligence Financière Mondiale</a:t>
            </a:r>
            <a:endParaRPr lang="en-US" sz="1800" dirty="0"/>
          </a:p>
          <a:p>
            <a:pPr indent="0" marL="0">
              <a:buNone/>
            </a:pPr>
            <a:r>
              <a:rPr lang="en-US" sz="1800" i="1" dirty="0">
                <a:solidFill>
                  <a:srgbClr val="C9A84C"/>
                </a:solidFill>
                <a:latin typeface="Georgia" pitchFamily="34" charset="0"/>
                <a:ea typeface="Georgia" pitchFamily="34" charset="-122"/>
                <a:cs typeface="Georgia" pitchFamily="34" charset="-120"/>
              </a:rPr>
              <a:t>depuis Yaoundé</a:t>
            </a:r>
            <a:endParaRPr lang="en-US" sz="1800" dirty="0"/>
          </a:p>
        </p:txBody>
      </p:sp>
      <p:sp>
        <p:nvSpPr>
          <p:cNvPr id="9" name="Shape 7"/>
          <p:cNvSpPr/>
          <p:nvPr/>
        </p:nvSpPr>
        <p:spPr>
          <a:xfrm>
            <a:off x="320040" y="3749040"/>
            <a:ext cx="2286000" cy="0"/>
          </a:xfrm>
          <a:prstGeom prst="line">
            <a:avLst/>
          </a:prstGeom>
          <a:noFill/>
          <a:ln w="6350">
            <a:solidFill>
              <a:srgbClr val="8A6A20"/>
            </a:solidFill>
            <a:prstDash val="solid"/>
          </a:ln>
        </p:spPr>
      </p:sp>
      <p:sp>
        <p:nvSpPr>
          <p:cNvPr id="10" name="Text 8"/>
          <p:cNvSpPr/>
          <p:nvPr/>
        </p:nvSpPr>
        <p:spPr>
          <a:xfrm>
            <a:off x="320040" y="3840480"/>
            <a:ext cx="5486400" cy="411480"/>
          </a:xfrm>
          <a:prstGeom prst="rect">
            <a:avLst/>
          </a:prstGeom>
          <a:noFill/>
          <a:ln/>
        </p:spPr>
        <p:txBody>
          <a:bodyPr wrap="square" rtlCol="0" anchor="ctr"/>
          <a:lstStyle/>
          <a:p>
            <a:pPr indent="0" marL="0">
              <a:buNone/>
            </a:pPr>
            <a:r>
              <a:rPr lang="en-US" sz="900" spc="100" kern="0" dirty="0">
                <a:solidFill>
                  <a:srgbClr val="6B6048"/>
                </a:solidFill>
                <a:latin typeface="Calibri" pitchFamily="34" charset="0"/>
                <a:ea typeface="Calibri" pitchFamily="34" charset="-122"/>
                <a:cs typeface="Calibri" pitchFamily="34" charset="-120"/>
              </a:rPr>
              <a:t>SOPECAM · Yaoundé, 2026</a:t>
            </a:r>
            <a:endParaRPr lang="en-US" sz="900" dirty="0"/>
          </a:p>
          <a:p>
            <a:pPr indent="0" marL="0">
              <a:buNone/>
            </a:pPr>
            <a:r>
              <a:rPr lang="en-US" sz="900" spc="100" kern="0" dirty="0">
                <a:solidFill>
                  <a:srgbClr val="6B6048"/>
                </a:solidFill>
                <a:latin typeface="Calibri" pitchFamily="34" charset="0"/>
                <a:ea typeface="Calibri" pitchFamily="34" charset="-122"/>
                <a:cs typeface="Calibri" pitchFamily="34" charset="-120"/>
              </a:rPr>
              <a:t>DOCUMENT CONFIDENTIEL — USAGE INTERNE</a:t>
            </a:r>
            <a:endParaRPr lang="en-US" sz="900" dirty="0"/>
          </a:p>
        </p:txBody>
      </p:sp>
      <p:sp>
        <p:nvSpPr>
          <p:cNvPr id="11" name="Text 9"/>
          <p:cNvSpPr/>
          <p:nvPr/>
        </p:nvSpPr>
        <p:spPr>
          <a:xfrm>
            <a:off x="6400800" y="914400"/>
            <a:ext cx="2468880" cy="274320"/>
          </a:xfrm>
          <a:prstGeom prst="rect">
            <a:avLst/>
          </a:prstGeom>
          <a:noFill/>
          <a:ln/>
        </p:spPr>
        <p:txBody>
          <a:bodyPr wrap="square" rtlCol="0" anchor="ctr"/>
          <a:lstStyle/>
          <a:p>
            <a:pPr indent="0" marL="0">
              <a:buNone/>
            </a:pPr>
            <a:r>
              <a:rPr lang="en-US" sz="900" spc="100" kern="0" dirty="0">
                <a:solidFill>
                  <a:srgbClr val="6B6048"/>
                </a:solidFill>
                <a:latin typeface="Calibri" pitchFamily="34" charset="0"/>
                <a:ea typeface="Calibri" pitchFamily="34" charset="-122"/>
                <a:cs typeface="Calibri" pitchFamily="34" charset="-120"/>
              </a:rPr>
              <a:t>Présentation à l'attention de</a:t>
            </a:r>
            <a:endParaRPr lang="en-US" sz="900" dirty="0"/>
          </a:p>
        </p:txBody>
      </p:sp>
      <p:sp>
        <p:nvSpPr>
          <p:cNvPr id="12" name="Text 10"/>
          <p:cNvSpPr/>
          <p:nvPr/>
        </p:nvSpPr>
        <p:spPr>
          <a:xfrm>
            <a:off x="6400800" y="1234440"/>
            <a:ext cx="2468880" cy="822960"/>
          </a:xfrm>
          <a:prstGeom prst="rect">
            <a:avLst/>
          </a:prstGeom>
          <a:noFill/>
          <a:ln/>
        </p:spPr>
        <p:txBody>
          <a:bodyPr wrap="square" rtlCol="0" anchor="ctr"/>
          <a:lstStyle/>
          <a:p>
            <a:pPr indent="0" marL="0">
              <a:buNone/>
            </a:pPr>
            <a:r>
              <a:rPr lang="en-US" sz="1800" b="1" dirty="0">
                <a:solidFill>
                  <a:srgbClr val="E8E4D9"/>
                </a:solidFill>
                <a:latin typeface="Georgia" pitchFamily="34" charset="0"/>
                <a:ea typeface="Georgia" pitchFamily="34" charset="-122"/>
                <a:cs typeface="Georgia" pitchFamily="34" charset="-120"/>
              </a:rPr>
              <a:t>Le Conseil</a:t>
            </a:r>
            <a:endParaRPr lang="en-US" sz="1800" dirty="0"/>
          </a:p>
          <a:p>
            <a:pPr indent="0" marL="0">
              <a:buNone/>
            </a:pPr>
            <a:r>
              <a:rPr lang="en-US" sz="1800" b="1" dirty="0">
                <a:solidFill>
                  <a:srgbClr val="E8E4D9"/>
                </a:solidFill>
                <a:latin typeface="Georgia" pitchFamily="34" charset="0"/>
                <a:ea typeface="Georgia" pitchFamily="34" charset="-122"/>
                <a:cs typeface="Georgia" pitchFamily="34" charset="-120"/>
              </a:rPr>
              <a:t>d'Administration</a:t>
            </a:r>
            <a:endParaRPr lang="en-US" sz="1800" dirty="0"/>
          </a:p>
        </p:txBody>
      </p:sp>
      <p:sp>
        <p:nvSpPr>
          <p:cNvPr id="13" name="Text 11"/>
          <p:cNvSpPr/>
          <p:nvPr/>
        </p:nvSpPr>
        <p:spPr>
          <a:xfrm>
            <a:off x="6400800" y="2194560"/>
            <a:ext cx="2377440" cy="1097280"/>
          </a:xfrm>
          <a:prstGeom prst="rect">
            <a:avLst/>
          </a:prstGeom>
          <a:noFill/>
          <a:ln/>
        </p:spPr>
        <p:txBody>
          <a:bodyPr wrap="square" rtlCol="0" anchor="t"/>
          <a:lstStyle/>
          <a:p>
            <a:pPr indent="0" marL="0">
              <a:buNone/>
            </a:pPr>
            <a:r>
              <a:rPr lang="en-US" sz="1050" dirty="0">
                <a:solidFill>
                  <a:srgbClr val="A89F8A"/>
                </a:solidFill>
                <a:latin typeface="Calibri" pitchFamily="34" charset="0"/>
                <a:ea typeface="Calibri" pitchFamily="34" charset="-122"/>
                <a:cs typeface="Calibri" pitchFamily="34" charset="-120"/>
              </a:rPr>
              <a:t>Objet : Demande d'approbation</a:t>
            </a:r>
            <a:endParaRPr lang="en-US" sz="1050" dirty="0"/>
          </a:p>
          <a:p>
            <a:pPr indent="0" marL="0">
              <a:buNone/>
            </a:pPr>
            <a:r>
              <a:rPr lang="en-US" sz="1050" dirty="0">
                <a:solidFill>
                  <a:srgbClr val="A89F8A"/>
                </a:solidFill>
                <a:latin typeface="Calibri" pitchFamily="34" charset="0"/>
                <a:ea typeface="Calibri" pitchFamily="34" charset="-122"/>
                <a:cs typeface="Calibri" pitchFamily="34" charset="-120"/>
              </a:rPr>
              <a:t>pour la création de la branche</a:t>
            </a:r>
            <a:endParaRPr lang="en-US" sz="1050" dirty="0"/>
          </a:p>
          <a:p>
            <a:pPr indent="0" marL="0">
              <a:buNone/>
            </a:pPr>
            <a:r>
              <a:rPr lang="en-US" sz="1050" dirty="0">
                <a:solidFill>
                  <a:srgbClr val="A89F8A"/>
                </a:solidFill>
                <a:latin typeface="Calibri" pitchFamily="34" charset="0"/>
                <a:ea typeface="Calibri" pitchFamily="34" charset="-122"/>
                <a:cs typeface="Calibri" pitchFamily="34" charset="-120"/>
              </a:rPr>
              <a:t>SOPECAM Capital — Intelligence</a:t>
            </a:r>
            <a:endParaRPr lang="en-US" sz="1050" dirty="0"/>
          </a:p>
          <a:p>
            <a:pPr indent="0" marL="0">
              <a:buNone/>
            </a:pPr>
            <a:r>
              <a:rPr lang="en-US" sz="1050" dirty="0">
                <a:solidFill>
                  <a:srgbClr val="A89F8A"/>
                </a:solidFill>
                <a:latin typeface="Calibri" pitchFamily="34" charset="0"/>
                <a:ea typeface="Calibri" pitchFamily="34" charset="-122"/>
                <a:cs typeface="Calibri" pitchFamily="34" charset="-120"/>
              </a:rPr>
              <a:t>Financière Mondiale</a:t>
            </a:r>
            <a:endParaRPr lang="en-US" sz="1050" dirty="0"/>
          </a:p>
        </p:txBody>
      </p:sp>
      <p:sp>
        <p:nvSpPr>
          <p:cNvPr id="14" name="Text 12"/>
          <p:cNvSpPr/>
          <p:nvPr/>
        </p:nvSpPr>
        <p:spPr>
          <a:xfrm>
            <a:off x="6400800" y="4480560"/>
            <a:ext cx="2468880" cy="274320"/>
          </a:xfrm>
          <a:prstGeom prst="rect">
            <a:avLst/>
          </a:prstGeom>
          <a:noFill/>
          <a:ln/>
        </p:spPr>
        <p:txBody>
          <a:bodyPr wrap="square" rtlCol="0" anchor="ctr"/>
          <a:lstStyle/>
          <a:p>
            <a:pPr indent="0" marL="0">
              <a:buNone/>
            </a:pPr>
            <a:r>
              <a:rPr lang="en-US" sz="900" spc="100" kern="0" dirty="0">
                <a:solidFill>
                  <a:srgbClr val="6B6048"/>
                </a:solidFill>
                <a:latin typeface="Calibri" pitchFamily="34" charset="0"/>
                <a:ea typeface="Calibri" pitchFamily="34" charset="-122"/>
                <a:cs typeface="Calibri" pitchFamily="34" charset="-120"/>
              </a:rPr>
              <a:t>Mai 2026</a:t>
            </a:r>
            <a:endParaRPr lang="en-US" sz="900" dirty="0"/>
          </a:p>
        </p:txBody>
      </p:sp>
      <p:sp>
        <p:nvSpPr>
          <p:cNvPr id="15" name="Text 13"/>
          <p:cNvSpPr/>
          <p:nvPr/>
        </p:nvSpPr>
        <p:spPr>
          <a:xfrm>
            <a:off x="8732520" y="4800600"/>
            <a:ext cx="365760" cy="228600"/>
          </a:xfrm>
          <a:prstGeom prst="rect">
            <a:avLst/>
          </a:prstGeom>
          <a:noFill/>
          <a:ln/>
        </p:spPr>
        <p:txBody>
          <a:bodyPr wrap="square" rtlCol="0" anchor="ctr"/>
          <a:lstStyle/>
          <a:p>
            <a:pPr indent="0" marL="0">
              <a:buNone/>
            </a:pPr>
            <a:r>
              <a:rPr lang="en-US" sz="900" dirty="0">
                <a:solidFill>
                  <a:srgbClr val="6B6048"/>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A0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017"/>
          </a:solidFill>
          <a:ln/>
        </p:spPr>
      </p:sp>
      <p:sp>
        <p:nvSpPr>
          <p:cNvPr id="3" name="Shape 1"/>
          <p:cNvSpPr/>
          <p:nvPr/>
        </p:nvSpPr>
        <p:spPr>
          <a:xfrm>
            <a:off x="0" y="822960"/>
            <a:ext cx="9144000" cy="36576"/>
          </a:xfrm>
          <a:prstGeom prst="rect">
            <a:avLst/>
          </a:prstGeom>
          <a:solidFill>
            <a:srgbClr val="C9A84C"/>
          </a:solidFill>
          <a:ln/>
        </p:spPr>
      </p:sp>
      <p:sp>
        <p:nvSpPr>
          <p:cNvPr id="4" name="Text 2"/>
          <p:cNvSpPr/>
          <p:nvPr/>
        </p:nvSpPr>
        <p:spPr>
          <a:xfrm>
            <a:off x="411480" y="128016"/>
            <a:ext cx="8229600" cy="256032"/>
          </a:xfrm>
          <a:prstGeom prst="rect">
            <a:avLst/>
          </a:prstGeom>
          <a:noFill/>
          <a:ln/>
        </p:spPr>
        <p:txBody>
          <a:bodyPr wrap="square" rtlCol="0" anchor="ctr"/>
          <a:lstStyle/>
          <a:p>
            <a:pPr indent="0" marL="0">
              <a:buNone/>
            </a:pPr>
            <a:r>
              <a:rPr lang="en-US" sz="900" spc="400" kern="0" dirty="0">
                <a:solidFill>
                  <a:srgbClr val="8A6A20"/>
                </a:solidFill>
                <a:latin typeface="Calibri" pitchFamily="34" charset="0"/>
                <a:ea typeface="Calibri" pitchFamily="34" charset="-122"/>
                <a:cs typeface="Calibri" pitchFamily="34" charset="-120"/>
              </a:rPr>
              <a:t>LE CONTEXTE</a:t>
            </a:r>
            <a:endParaRPr lang="en-US" sz="900" dirty="0"/>
          </a:p>
        </p:txBody>
      </p:sp>
      <p:sp>
        <p:nvSpPr>
          <p:cNvPr id="5" name="Text 3"/>
          <p:cNvSpPr/>
          <p:nvPr/>
        </p:nvSpPr>
        <p:spPr>
          <a:xfrm>
            <a:off x="411480" y="402336"/>
            <a:ext cx="8229600" cy="347472"/>
          </a:xfrm>
          <a:prstGeom prst="rect">
            <a:avLst/>
          </a:prstGeom>
          <a:noFill/>
          <a:ln/>
        </p:spPr>
        <p:txBody>
          <a:bodyPr wrap="square" rtlCol="0" anchor="ctr"/>
          <a:lstStyle/>
          <a:p>
            <a:pPr indent="0" marL="0">
              <a:buNone/>
            </a:pPr>
            <a:r>
              <a:rPr lang="en-US" sz="2000" b="1" dirty="0">
                <a:solidFill>
                  <a:srgbClr val="E8E4D9"/>
                </a:solidFill>
                <a:latin typeface="Georgia" pitchFamily="34" charset="0"/>
                <a:ea typeface="Georgia" pitchFamily="34" charset="-122"/>
                <a:cs typeface="Georgia" pitchFamily="34" charset="-120"/>
              </a:rPr>
              <a:t>Une Fenêtre Historique que le Cameroun Doit Saisir</a:t>
            </a:r>
            <a:endParaRPr lang="en-US" sz="2000" dirty="0"/>
          </a:p>
        </p:txBody>
      </p:sp>
      <p:sp>
        <p:nvSpPr>
          <p:cNvPr id="6" name="Shape 4"/>
          <p:cNvSpPr/>
          <p:nvPr/>
        </p:nvSpPr>
        <p:spPr>
          <a:xfrm>
            <a:off x="320040" y="1005840"/>
            <a:ext cx="2651760" cy="1417320"/>
          </a:xfrm>
          <a:prstGeom prst="rect">
            <a:avLst/>
          </a:prstGeom>
          <a:solidFill>
            <a:srgbClr val="0D1017"/>
          </a:solidFill>
          <a:ln/>
        </p:spPr>
      </p:sp>
      <p:sp>
        <p:nvSpPr>
          <p:cNvPr id="7" name="Shape 5"/>
          <p:cNvSpPr/>
          <p:nvPr/>
        </p:nvSpPr>
        <p:spPr>
          <a:xfrm>
            <a:off x="320040" y="1005840"/>
            <a:ext cx="2651760" cy="36576"/>
          </a:xfrm>
          <a:prstGeom prst="rect">
            <a:avLst/>
          </a:prstGeom>
          <a:solidFill>
            <a:srgbClr val="C9A84C"/>
          </a:solidFill>
          <a:ln/>
        </p:spPr>
      </p:sp>
      <p:sp>
        <p:nvSpPr>
          <p:cNvPr id="8" name="Text 6"/>
          <p:cNvSpPr/>
          <p:nvPr/>
        </p:nvSpPr>
        <p:spPr>
          <a:xfrm>
            <a:off x="320040" y="1097280"/>
            <a:ext cx="2651760" cy="594360"/>
          </a:xfrm>
          <a:prstGeom prst="rect">
            <a:avLst/>
          </a:prstGeom>
          <a:noFill/>
          <a:ln/>
        </p:spPr>
        <p:txBody>
          <a:bodyPr wrap="square" rtlCol="0" anchor="ctr"/>
          <a:lstStyle/>
          <a:p>
            <a:pPr algn="ctr" indent="0" marL="0">
              <a:buNone/>
            </a:pPr>
            <a:r>
              <a:rPr lang="en-US" sz="3000" b="1" dirty="0">
                <a:solidFill>
                  <a:srgbClr val="C9A84C"/>
                </a:solidFill>
                <a:latin typeface="Georgia" pitchFamily="34" charset="0"/>
                <a:ea typeface="Georgia" pitchFamily="34" charset="-122"/>
                <a:cs typeface="Georgia" pitchFamily="34" charset="-120"/>
              </a:rPr>
              <a:t>28M</a:t>
            </a:r>
            <a:endParaRPr lang="en-US" sz="3000" dirty="0"/>
          </a:p>
        </p:txBody>
      </p:sp>
      <p:sp>
        <p:nvSpPr>
          <p:cNvPr id="9" name="Text 7"/>
          <p:cNvSpPr/>
          <p:nvPr/>
        </p:nvSpPr>
        <p:spPr>
          <a:xfrm>
            <a:off x="320040" y="1691640"/>
            <a:ext cx="2651760" cy="274320"/>
          </a:xfrm>
          <a:prstGeom prst="rect">
            <a:avLst/>
          </a:prstGeom>
          <a:noFill/>
          <a:ln/>
        </p:spPr>
        <p:txBody>
          <a:bodyPr wrap="square" rtlCol="0" anchor="ctr"/>
          <a:lstStyle/>
          <a:p>
            <a:pPr algn="ctr" indent="0" marL="0">
              <a:buNone/>
            </a:pPr>
            <a:r>
              <a:rPr lang="en-US" sz="1100" b="1" dirty="0">
                <a:solidFill>
                  <a:srgbClr val="E8E4D9"/>
                </a:solidFill>
                <a:latin typeface="Calibri" pitchFamily="34" charset="0"/>
                <a:ea typeface="Calibri" pitchFamily="34" charset="-122"/>
                <a:cs typeface="Calibri" pitchFamily="34" charset="-120"/>
              </a:rPr>
              <a:t>Camerounais</a:t>
            </a:r>
            <a:endParaRPr lang="en-US" sz="1100" dirty="0"/>
          </a:p>
        </p:txBody>
      </p:sp>
      <p:sp>
        <p:nvSpPr>
          <p:cNvPr id="10" name="Text 8"/>
          <p:cNvSpPr/>
          <p:nvPr/>
        </p:nvSpPr>
        <p:spPr>
          <a:xfrm>
            <a:off x="411480" y="2011680"/>
            <a:ext cx="2468880" cy="365760"/>
          </a:xfrm>
          <a:prstGeom prst="rect">
            <a:avLst/>
          </a:prstGeom>
          <a:noFill/>
          <a:ln/>
        </p:spPr>
        <p:txBody>
          <a:bodyPr wrap="square" rtlCol="0" anchor="ctr"/>
          <a:lstStyle/>
          <a:p>
            <a:pPr algn="ctr" indent="0" marL="0">
              <a:buNone/>
            </a:pPr>
            <a:r>
              <a:rPr lang="en-US" sz="950" dirty="0">
                <a:solidFill>
                  <a:srgbClr val="6B6048"/>
                </a:solidFill>
                <a:latin typeface="Calibri" pitchFamily="34" charset="0"/>
                <a:ea typeface="Calibri" pitchFamily="34" charset="-122"/>
                <a:cs typeface="Calibri" pitchFamily="34" charset="-120"/>
              </a:rPr>
              <a:t>dont 60% sous 25 ans — génération numérique native</a:t>
            </a:r>
            <a:endParaRPr lang="en-US" sz="950" dirty="0"/>
          </a:p>
        </p:txBody>
      </p:sp>
      <p:sp>
        <p:nvSpPr>
          <p:cNvPr id="11" name="Shape 9"/>
          <p:cNvSpPr/>
          <p:nvPr/>
        </p:nvSpPr>
        <p:spPr>
          <a:xfrm>
            <a:off x="3200400" y="1005840"/>
            <a:ext cx="2651760" cy="1417320"/>
          </a:xfrm>
          <a:prstGeom prst="rect">
            <a:avLst/>
          </a:prstGeom>
          <a:solidFill>
            <a:srgbClr val="0D1017"/>
          </a:solidFill>
          <a:ln/>
        </p:spPr>
      </p:sp>
      <p:sp>
        <p:nvSpPr>
          <p:cNvPr id="12" name="Shape 10"/>
          <p:cNvSpPr/>
          <p:nvPr/>
        </p:nvSpPr>
        <p:spPr>
          <a:xfrm>
            <a:off x="3200400" y="1005840"/>
            <a:ext cx="2651760" cy="36576"/>
          </a:xfrm>
          <a:prstGeom prst="rect">
            <a:avLst/>
          </a:prstGeom>
          <a:solidFill>
            <a:srgbClr val="C9A84C"/>
          </a:solidFill>
          <a:ln/>
        </p:spPr>
      </p:sp>
      <p:sp>
        <p:nvSpPr>
          <p:cNvPr id="13" name="Text 11"/>
          <p:cNvSpPr/>
          <p:nvPr/>
        </p:nvSpPr>
        <p:spPr>
          <a:xfrm>
            <a:off x="3200400" y="1097280"/>
            <a:ext cx="2651760" cy="594360"/>
          </a:xfrm>
          <a:prstGeom prst="rect">
            <a:avLst/>
          </a:prstGeom>
          <a:noFill/>
          <a:ln/>
        </p:spPr>
        <p:txBody>
          <a:bodyPr wrap="square" rtlCol="0" anchor="ctr"/>
          <a:lstStyle/>
          <a:p>
            <a:pPr algn="ctr" indent="0" marL="0">
              <a:buNone/>
            </a:pPr>
            <a:r>
              <a:rPr lang="en-US" sz="3000" b="1" dirty="0">
                <a:solidFill>
                  <a:srgbClr val="C9A84C"/>
                </a:solidFill>
                <a:latin typeface="Georgia" pitchFamily="34" charset="0"/>
                <a:ea typeface="Georgia" pitchFamily="34" charset="-122"/>
                <a:cs typeface="Georgia" pitchFamily="34" charset="-120"/>
              </a:rPr>
              <a:t>0</a:t>
            </a:r>
            <a:endParaRPr lang="en-US" sz="3000" dirty="0"/>
          </a:p>
        </p:txBody>
      </p:sp>
      <p:sp>
        <p:nvSpPr>
          <p:cNvPr id="14" name="Text 12"/>
          <p:cNvSpPr/>
          <p:nvPr/>
        </p:nvSpPr>
        <p:spPr>
          <a:xfrm>
            <a:off x="3200400" y="1691640"/>
            <a:ext cx="2651760" cy="274320"/>
          </a:xfrm>
          <a:prstGeom prst="rect">
            <a:avLst/>
          </a:prstGeom>
          <a:noFill/>
          <a:ln/>
        </p:spPr>
        <p:txBody>
          <a:bodyPr wrap="square" rtlCol="0" anchor="ctr"/>
          <a:lstStyle/>
          <a:p>
            <a:pPr algn="ctr" indent="0" marL="0">
              <a:buNone/>
            </a:pPr>
            <a:r>
              <a:rPr lang="en-US" sz="1100" b="1" dirty="0">
                <a:solidFill>
                  <a:srgbClr val="E8E4D9"/>
                </a:solidFill>
                <a:latin typeface="Calibri" pitchFamily="34" charset="0"/>
                <a:ea typeface="Calibri" pitchFamily="34" charset="-122"/>
                <a:cs typeface="Calibri" pitchFamily="34" charset="-120"/>
              </a:rPr>
              <a:t>Plateformes équivalentes</a:t>
            </a:r>
            <a:endParaRPr lang="en-US" sz="1100" dirty="0"/>
          </a:p>
        </p:txBody>
      </p:sp>
      <p:sp>
        <p:nvSpPr>
          <p:cNvPr id="15" name="Text 13"/>
          <p:cNvSpPr/>
          <p:nvPr/>
        </p:nvSpPr>
        <p:spPr>
          <a:xfrm>
            <a:off x="3291840" y="2011680"/>
            <a:ext cx="2468880" cy="365760"/>
          </a:xfrm>
          <a:prstGeom prst="rect">
            <a:avLst/>
          </a:prstGeom>
          <a:noFill/>
          <a:ln/>
        </p:spPr>
        <p:txBody>
          <a:bodyPr wrap="square" rtlCol="0" anchor="ctr"/>
          <a:lstStyle/>
          <a:p>
            <a:pPr algn="ctr" indent="0" marL="0">
              <a:buNone/>
            </a:pPr>
            <a:r>
              <a:rPr lang="en-US" sz="950" dirty="0">
                <a:solidFill>
                  <a:srgbClr val="6B6048"/>
                </a:solidFill>
                <a:latin typeface="Calibri" pitchFamily="34" charset="0"/>
                <a:ea typeface="Calibri" pitchFamily="34" charset="-122"/>
                <a:cs typeface="Calibri" pitchFamily="34" charset="-120"/>
              </a:rPr>
              <a:t>en Afrique Centrale — marché totalement vierge</a:t>
            </a:r>
            <a:endParaRPr lang="en-US" sz="950" dirty="0"/>
          </a:p>
        </p:txBody>
      </p:sp>
      <p:sp>
        <p:nvSpPr>
          <p:cNvPr id="16" name="Shape 14"/>
          <p:cNvSpPr/>
          <p:nvPr/>
        </p:nvSpPr>
        <p:spPr>
          <a:xfrm>
            <a:off x="6080760" y="1005840"/>
            <a:ext cx="2651760" cy="1417320"/>
          </a:xfrm>
          <a:prstGeom prst="rect">
            <a:avLst/>
          </a:prstGeom>
          <a:solidFill>
            <a:srgbClr val="0D1017"/>
          </a:solidFill>
          <a:ln/>
        </p:spPr>
      </p:sp>
      <p:sp>
        <p:nvSpPr>
          <p:cNvPr id="17" name="Shape 15"/>
          <p:cNvSpPr/>
          <p:nvPr/>
        </p:nvSpPr>
        <p:spPr>
          <a:xfrm>
            <a:off x="6080760" y="1005840"/>
            <a:ext cx="2651760" cy="36576"/>
          </a:xfrm>
          <a:prstGeom prst="rect">
            <a:avLst/>
          </a:prstGeom>
          <a:solidFill>
            <a:srgbClr val="C9A84C"/>
          </a:solidFill>
          <a:ln/>
        </p:spPr>
      </p:sp>
      <p:sp>
        <p:nvSpPr>
          <p:cNvPr id="18" name="Text 16"/>
          <p:cNvSpPr/>
          <p:nvPr/>
        </p:nvSpPr>
        <p:spPr>
          <a:xfrm>
            <a:off x="6080760" y="1097280"/>
            <a:ext cx="2651760" cy="594360"/>
          </a:xfrm>
          <a:prstGeom prst="rect">
            <a:avLst/>
          </a:prstGeom>
          <a:noFill/>
          <a:ln/>
        </p:spPr>
        <p:txBody>
          <a:bodyPr wrap="square" rtlCol="0" anchor="ctr"/>
          <a:lstStyle/>
          <a:p>
            <a:pPr algn="ctr" indent="0" marL="0">
              <a:buNone/>
            </a:pPr>
            <a:r>
              <a:rPr lang="en-US" sz="3000" b="1" dirty="0">
                <a:solidFill>
                  <a:srgbClr val="C9A84C"/>
                </a:solidFill>
                <a:latin typeface="Georgia" pitchFamily="34" charset="0"/>
                <a:ea typeface="Georgia" pitchFamily="34" charset="-122"/>
                <a:cs typeface="Georgia" pitchFamily="34" charset="-120"/>
              </a:rPr>
              <a:t>400 FCFA</a:t>
            </a:r>
            <a:endParaRPr lang="en-US" sz="3000" dirty="0"/>
          </a:p>
        </p:txBody>
      </p:sp>
      <p:sp>
        <p:nvSpPr>
          <p:cNvPr id="19" name="Text 17"/>
          <p:cNvSpPr/>
          <p:nvPr/>
        </p:nvSpPr>
        <p:spPr>
          <a:xfrm>
            <a:off x="6080760" y="1691640"/>
            <a:ext cx="2651760" cy="274320"/>
          </a:xfrm>
          <a:prstGeom prst="rect">
            <a:avLst/>
          </a:prstGeom>
          <a:noFill/>
          <a:ln/>
        </p:spPr>
        <p:txBody>
          <a:bodyPr wrap="square" rtlCol="0" anchor="ctr"/>
          <a:lstStyle/>
          <a:p>
            <a:pPr algn="ctr" indent="0" marL="0">
              <a:buNone/>
            </a:pPr>
            <a:r>
              <a:rPr lang="en-US" sz="1100" b="1" dirty="0">
                <a:solidFill>
                  <a:srgbClr val="E8E4D9"/>
                </a:solidFill>
                <a:latin typeface="Calibri" pitchFamily="34" charset="0"/>
                <a:ea typeface="Calibri" pitchFamily="34" charset="-122"/>
                <a:cs typeface="Calibri" pitchFamily="34" charset="-120"/>
              </a:rPr>
              <a:t>Journal papier</a:t>
            </a:r>
            <a:endParaRPr lang="en-US" sz="1100" dirty="0"/>
          </a:p>
        </p:txBody>
      </p:sp>
      <p:sp>
        <p:nvSpPr>
          <p:cNvPr id="20" name="Text 18"/>
          <p:cNvSpPr/>
          <p:nvPr/>
        </p:nvSpPr>
        <p:spPr>
          <a:xfrm>
            <a:off x="6172200" y="2011680"/>
            <a:ext cx="2468880" cy="365760"/>
          </a:xfrm>
          <a:prstGeom prst="rect">
            <a:avLst/>
          </a:prstGeom>
          <a:noFill/>
          <a:ln/>
        </p:spPr>
        <p:txBody>
          <a:bodyPr wrap="square" rtlCol="0" anchor="ctr"/>
          <a:lstStyle/>
          <a:p>
            <a:pPr algn="ctr" indent="0" marL="0">
              <a:buNone/>
            </a:pPr>
            <a:r>
              <a:rPr lang="en-US" sz="950" dirty="0">
                <a:solidFill>
                  <a:srgbClr val="6B6048"/>
                </a:solidFill>
                <a:latin typeface="Calibri" pitchFamily="34" charset="0"/>
                <a:ea typeface="Calibri" pitchFamily="34" charset="-122"/>
                <a:cs typeface="Calibri" pitchFamily="34" charset="-120"/>
              </a:rPr>
              <a:t>~58 000 abonnés actuels — base à multiplier par 10</a:t>
            </a:r>
            <a:endParaRPr lang="en-US" sz="950" dirty="0"/>
          </a:p>
        </p:txBody>
      </p:sp>
      <p:sp>
        <p:nvSpPr>
          <p:cNvPr id="21" name="Text 19"/>
          <p:cNvSpPr/>
          <p:nvPr/>
        </p:nvSpPr>
        <p:spPr>
          <a:xfrm>
            <a:off x="411480" y="2514600"/>
            <a:ext cx="8229600" cy="228600"/>
          </a:xfrm>
          <a:prstGeom prst="rect">
            <a:avLst/>
          </a:prstGeom>
          <a:noFill/>
          <a:ln/>
        </p:spPr>
        <p:txBody>
          <a:bodyPr wrap="square" rtlCol="0" anchor="ctr"/>
          <a:lstStyle/>
          <a:p>
            <a:pPr indent="0" marL="0">
              <a:buNone/>
            </a:pPr>
            <a:r>
              <a:rPr lang="en-US" sz="850" spc="200" kern="0" dirty="0">
                <a:solidFill>
                  <a:srgbClr val="6B6048"/>
                </a:solidFill>
                <a:latin typeface="Calibri" pitchFamily="34" charset="0"/>
                <a:ea typeface="Calibri" pitchFamily="34" charset="-122"/>
                <a:cs typeface="Calibri" pitchFamily="34" charset="-120"/>
              </a:rPr>
              <a:t>POURQUOI MAINTENANT — LES FACTEURS CONVERGENTS</a:t>
            </a:r>
            <a:endParaRPr lang="en-US" sz="850" dirty="0"/>
          </a:p>
        </p:txBody>
      </p:sp>
      <p:sp>
        <p:nvSpPr>
          <p:cNvPr id="22" name="Shape 20"/>
          <p:cNvSpPr/>
          <p:nvPr/>
        </p:nvSpPr>
        <p:spPr>
          <a:xfrm>
            <a:off x="320040" y="2862072"/>
            <a:ext cx="45720" cy="457200"/>
          </a:xfrm>
          <a:prstGeom prst="rect">
            <a:avLst/>
          </a:prstGeom>
          <a:solidFill>
            <a:srgbClr val="4CAF75"/>
          </a:solidFill>
          <a:ln/>
        </p:spPr>
      </p:sp>
      <p:sp>
        <p:nvSpPr>
          <p:cNvPr id="23" name="Text 21"/>
          <p:cNvSpPr/>
          <p:nvPr/>
        </p:nvSpPr>
        <p:spPr>
          <a:xfrm>
            <a:off x="457200" y="2816352"/>
            <a:ext cx="8321040" cy="566928"/>
          </a:xfrm>
          <a:prstGeom prst="rect">
            <a:avLst/>
          </a:prstGeom>
          <a:noFill/>
          <a:ln/>
        </p:spPr>
        <p:txBody>
          <a:bodyPr wrap="square" rtlCol="0" anchor="t"/>
          <a:lstStyle/>
          <a:p>
            <a:pPr indent="0" marL="0">
              <a:buNone/>
            </a:pPr>
            <a:r>
              <a:rPr lang="en-US" sz="1050" b="1" dirty="0">
                <a:solidFill>
                  <a:srgbClr val="E8E4D9"/>
                </a:solidFill>
                <a:latin typeface="Calibri" pitchFamily="34" charset="0"/>
                <a:ea typeface="Calibri" pitchFamily="34" charset="-122"/>
                <a:cs typeface="Calibri" pitchFamily="34" charset="-120"/>
              </a:rPr>
              <a:t>Super-cycle des matières premières africaines — </a:t>
            </a:r>
            <a:pPr indent="0" marL="0">
              <a:buNone/>
            </a:pPr>
            <a:r>
              <a:rPr lang="en-US" sz="1050" dirty="0">
                <a:solidFill>
                  <a:srgbClr val="A89F8A"/>
                </a:solidFill>
                <a:latin typeface="Calibri" pitchFamily="34" charset="0"/>
                <a:ea typeface="Calibri" pitchFamily="34" charset="-122"/>
                <a:cs typeface="Calibri" pitchFamily="34" charset="-120"/>
              </a:rPr>
              <a:t>Le cacao (+62% YTD), le cobalt (+18%), le cuivre (+12%) — le Cameroun est au cœur d'un cycle haussier historique. Aucun media national ne l'exploite pour informer et éduquer les citoyens.</a:t>
            </a:r>
            <a:endParaRPr lang="en-US" sz="1050" dirty="0"/>
          </a:p>
        </p:txBody>
      </p:sp>
      <p:sp>
        <p:nvSpPr>
          <p:cNvPr id="24" name="Shape 22"/>
          <p:cNvSpPr/>
          <p:nvPr/>
        </p:nvSpPr>
        <p:spPr>
          <a:xfrm>
            <a:off x="320040" y="3483864"/>
            <a:ext cx="45720" cy="457200"/>
          </a:xfrm>
          <a:prstGeom prst="rect">
            <a:avLst/>
          </a:prstGeom>
          <a:solidFill>
            <a:srgbClr val="4CAF75"/>
          </a:solidFill>
          <a:ln/>
        </p:spPr>
      </p:sp>
      <p:sp>
        <p:nvSpPr>
          <p:cNvPr id="25" name="Text 23"/>
          <p:cNvSpPr/>
          <p:nvPr/>
        </p:nvSpPr>
        <p:spPr>
          <a:xfrm>
            <a:off x="457200" y="3438144"/>
            <a:ext cx="8321040" cy="566928"/>
          </a:xfrm>
          <a:prstGeom prst="rect">
            <a:avLst/>
          </a:prstGeom>
          <a:noFill/>
          <a:ln/>
        </p:spPr>
        <p:txBody>
          <a:bodyPr wrap="square" rtlCol="0" anchor="t"/>
          <a:lstStyle/>
          <a:p>
            <a:pPr indent="0" marL="0">
              <a:buNone/>
            </a:pPr>
            <a:r>
              <a:rPr lang="en-US" sz="1050" b="1" dirty="0">
                <a:solidFill>
                  <a:srgbClr val="E8E4D9"/>
                </a:solidFill>
                <a:latin typeface="Calibri" pitchFamily="34" charset="0"/>
                <a:ea typeface="Calibri" pitchFamily="34" charset="-122"/>
                <a:cs typeface="Calibri" pitchFamily="34" charset="-120"/>
              </a:rPr>
              <a:t>Expansion de la classe moyenne &amp; pénétration mobile — </a:t>
            </a:r>
            <a:pPr indent="0" marL="0">
              <a:buNone/>
            </a:pPr>
            <a:r>
              <a:rPr lang="en-US" sz="1050" dirty="0">
                <a:solidFill>
                  <a:srgbClr val="A89F8A"/>
                </a:solidFill>
                <a:latin typeface="Calibri" pitchFamily="34" charset="0"/>
                <a:ea typeface="Calibri" pitchFamily="34" charset="-122"/>
                <a:cs typeface="Calibri" pitchFamily="34" charset="-120"/>
              </a:rPr>
              <a:t>Le taux de pénétration mobile atteint 72% en croissance depuis 2020. Une nouvelle génération d'épargnants cherche des outils financiers — et ne les trouve pas en français, depuis Yaoundé.</a:t>
            </a:r>
            <a:endParaRPr lang="en-US" sz="1050" dirty="0"/>
          </a:p>
        </p:txBody>
      </p:sp>
      <p:sp>
        <p:nvSpPr>
          <p:cNvPr id="26" name="Shape 24"/>
          <p:cNvSpPr/>
          <p:nvPr/>
        </p:nvSpPr>
        <p:spPr>
          <a:xfrm>
            <a:off x="320040" y="4105656"/>
            <a:ext cx="45720" cy="457200"/>
          </a:xfrm>
          <a:prstGeom prst="rect">
            <a:avLst/>
          </a:prstGeom>
          <a:solidFill>
            <a:srgbClr val="4CAF75"/>
          </a:solidFill>
          <a:ln/>
        </p:spPr>
      </p:sp>
      <p:sp>
        <p:nvSpPr>
          <p:cNvPr id="27" name="Text 25"/>
          <p:cNvSpPr/>
          <p:nvPr/>
        </p:nvSpPr>
        <p:spPr>
          <a:xfrm>
            <a:off x="457200" y="4059936"/>
            <a:ext cx="8321040" cy="566928"/>
          </a:xfrm>
          <a:prstGeom prst="rect">
            <a:avLst/>
          </a:prstGeom>
          <a:noFill/>
          <a:ln/>
        </p:spPr>
        <p:txBody>
          <a:bodyPr wrap="square" rtlCol="0" anchor="t"/>
          <a:lstStyle/>
          <a:p>
            <a:pPr indent="0" marL="0">
              <a:buNone/>
            </a:pPr>
            <a:r>
              <a:rPr lang="en-US" sz="1050" b="1" dirty="0">
                <a:solidFill>
                  <a:srgbClr val="E8E4D9"/>
                </a:solidFill>
                <a:latin typeface="Calibri" pitchFamily="34" charset="0"/>
                <a:ea typeface="Calibri" pitchFamily="34" charset="-122"/>
                <a:cs typeface="Calibri" pitchFamily="34" charset="-120"/>
              </a:rPr>
              <a:t>Diaspora camerounaise sous-équipée — </a:t>
            </a:r>
            <a:pPr indent="0" marL="0">
              <a:buNone/>
            </a:pPr>
            <a:r>
              <a:rPr lang="en-US" sz="1050" dirty="0">
                <a:solidFill>
                  <a:srgbClr val="A89F8A"/>
                </a:solidFill>
                <a:latin typeface="Calibri" pitchFamily="34" charset="0"/>
                <a:ea typeface="Calibri" pitchFamily="34" charset="-122"/>
                <a:cs typeface="Calibri" pitchFamily="34" charset="-120"/>
              </a:rPr>
              <a:t>4+ millions de Camerounais à l'étranger effectuent des transferts annuels de &gt;$2Mds. Ils cherchent à investir au pays et dans les marchés mondiaux — sans plateforme de référence.</a:t>
            </a:r>
            <a:endParaRPr lang="en-US" sz="1050" dirty="0"/>
          </a:p>
        </p:txBody>
      </p:sp>
      <p:sp>
        <p:nvSpPr>
          <p:cNvPr id="28" name="Text 26"/>
          <p:cNvSpPr/>
          <p:nvPr/>
        </p:nvSpPr>
        <p:spPr>
          <a:xfrm>
            <a:off x="8732520" y="4800600"/>
            <a:ext cx="365760" cy="228600"/>
          </a:xfrm>
          <a:prstGeom prst="rect">
            <a:avLst/>
          </a:prstGeom>
          <a:noFill/>
          <a:ln/>
        </p:spPr>
        <p:txBody>
          <a:bodyPr wrap="square" rtlCol="0" anchor="ctr"/>
          <a:lstStyle/>
          <a:p>
            <a:pPr indent="0" marL="0">
              <a:buNone/>
            </a:pPr>
            <a:r>
              <a:rPr lang="en-US" sz="900" dirty="0">
                <a:solidFill>
                  <a:srgbClr val="6B6048"/>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A0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017"/>
          </a:solidFill>
          <a:ln/>
        </p:spPr>
      </p:sp>
      <p:sp>
        <p:nvSpPr>
          <p:cNvPr id="3" name="Shape 1"/>
          <p:cNvSpPr/>
          <p:nvPr/>
        </p:nvSpPr>
        <p:spPr>
          <a:xfrm>
            <a:off x="0" y="822960"/>
            <a:ext cx="9144000" cy="36576"/>
          </a:xfrm>
          <a:prstGeom prst="rect">
            <a:avLst/>
          </a:prstGeom>
          <a:solidFill>
            <a:srgbClr val="C9A84C"/>
          </a:solidFill>
          <a:ln/>
        </p:spPr>
      </p:sp>
      <p:sp>
        <p:nvSpPr>
          <p:cNvPr id="4" name="Text 2"/>
          <p:cNvSpPr/>
          <p:nvPr/>
        </p:nvSpPr>
        <p:spPr>
          <a:xfrm>
            <a:off x="411480" y="128016"/>
            <a:ext cx="8229600" cy="256032"/>
          </a:xfrm>
          <a:prstGeom prst="rect">
            <a:avLst/>
          </a:prstGeom>
          <a:noFill/>
          <a:ln/>
        </p:spPr>
        <p:txBody>
          <a:bodyPr wrap="square" rtlCol="0" anchor="ctr"/>
          <a:lstStyle/>
          <a:p>
            <a:pPr indent="0" marL="0">
              <a:buNone/>
            </a:pPr>
            <a:r>
              <a:rPr lang="en-US" sz="900" spc="400" kern="0" dirty="0">
                <a:solidFill>
                  <a:srgbClr val="8A6A20"/>
                </a:solidFill>
                <a:latin typeface="Calibri" pitchFamily="34" charset="0"/>
                <a:ea typeface="Calibri" pitchFamily="34" charset="-122"/>
                <a:cs typeface="Calibri" pitchFamily="34" charset="-120"/>
              </a:rPr>
              <a:t>LA VISION</a:t>
            </a:r>
            <a:endParaRPr lang="en-US" sz="900" dirty="0"/>
          </a:p>
        </p:txBody>
      </p:sp>
      <p:sp>
        <p:nvSpPr>
          <p:cNvPr id="5" name="Text 3"/>
          <p:cNvSpPr/>
          <p:nvPr/>
        </p:nvSpPr>
        <p:spPr>
          <a:xfrm>
            <a:off x="411480" y="402336"/>
            <a:ext cx="8229600" cy="347472"/>
          </a:xfrm>
          <a:prstGeom prst="rect">
            <a:avLst/>
          </a:prstGeom>
          <a:noFill/>
          <a:ln/>
        </p:spPr>
        <p:txBody>
          <a:bodyPr wrap="square" rtlCol="0" anchor="ctr"/>
          <a:lstStyle/>
          <a:p>
            <a:pPr indent="0" marL="0">
              <a:buNone/>
            </a:pPr>
            <a:r>
              <a:rPr lang="en-US" sz="2000" b="1" dirty="0">
                <a:solidFill>
                  <a:srgbClr val="E8E4D9"/>
                </a:solidFill>
                <a:latin typeface="Georgia" pitchFamily="34" charset="0"/>
                <a:ea typeface="Georgia" pitchFamily="34" charset="-122"/>
                <a:cs typeface="Georgia" pitchFamily="34" charset="-120"/>
              </a:rPr>
              <a:t>SOPECAM Capital — L'Afrique Centrale Mérite sa Bloomberg</a:t>
            </a:r>
            <a:endParaRPr lang="en-US" sz="2000" dirty="0"/>
          </a:p>
        </p:txBody>
      </p:sp>
      <p:sp>
        <p:nvSpPr>
          <p:cNvPr id="6" name="Shape 4"/>
          <p:cNvSpPr/>
          <p:nvPr/>
        </p:nvSpPr>
        <p:spPr>
          <a:xfrm>
            <a:off x="320040" y="960120"/>
            <a:ext cx="8503920" cy="914400"/>
          </a:xfrm>
          <a:prstGeom prst="rect">
            <a:avLst/>
          </a:prstGeom>
          <a:solidFill>
            <a:srgbClr val="0D1017"/>
          </a:solidFill>
          <a:ln/>
        </p:spPr>
      </p:sp>
      <p:sp>
        <p:nvSpPr>
          <p:cNvPr id="7" name="Shape 5"/>
          <p:cNvSpPr/>
          <p:nvPr/>
        </p:nvSpPr>
        <p:spPr>
          <a:xfrm>
            <a:off x="320040" y="960120"/>
            <a:ext cx="45720" cy="914400"/>
          </a:xfrm>
          <a:prstGeom prst="rect">
            <a:avLst/>
          </a:prstGeom>
          <a:solidFill>
            <a:srgbClr val="C9A84C"/>
          </a:solidFill>
          <a:ln/>
        </p:spPr>
      </p:sp>
      <p:sp>
        <p:nvSpPr>
          <p:cNvPr id="8" name="Text 6"/>
          <p:cNvSpPr/>
          <p:nvPr/>
        </p:nvSpPr>
        <p:spPr>
          <a:xfrm>
            <a:off x="457200" y="1005840"/>
            <a:ext cx="8275320" cy="822960"/>
          </a:xfrm>
          <a:prstGeom prst="rect">
            <a:avLst/>
          </a:prstGeom>
          <a:noFill/>
          <a:ln/>
        </p:spPr>
        <p:txBody>
          <a:bodyPr wrap="square" rtlCol="0" anchor="ctr"/>
          <a:lstStyle/>
          <a:p>
            <a:pPr indent="0" marL="0">
              <a:buNone/>
            </a:pPr>
            <a:r>
              <a:rPr lang="en-US" sz="1150" i="1" dirty="0">
                <a:solidFill>
                  <a:srgbClr val="E8E4D9"/>
                </a:solidFill>
                <a:latin typeface="Georgia" pitchFamily="34" charset="0"/>
                <a:ea typeface="Georgia" pitchFamily="34" charset="-122"/>
                <a:cs typeface="Georgia" pitchFamily="34" charset="-120"/>
              </a:rPr>
              <a:t>"SOPECAM Capital est la branche d'intelligence financière mondiale de SOPECAM. Elle produit, agrège et distribue des données de marchés en temps réel, des analyses éditoriales de rang international, une éducation financière accessible à tous, et un accès structuré aux opportunités d'investissement mondiales — depuis Yaoundé, pour le Cameroun et le monde."</a:t>
            </a:r>
            <a:endParaRPr lang="en-US" sz="1150" dirty="0"/>
          </a:p>
        </p:txBody>
      </p:sp>
      <p:sp>
        <p:nvSpPr>
          <p:cNvPr id="9" name="Shape 7"/>
          <p:cNvSpPr/>
          <p:nvPr/>
        </p:nvSpPr>
        <p:spPr>
          <a:xfrm>
            <a:off x="320040" y="1993392"/>
            <a:ext cx="2743200" cy="1298448"/>
          </a:xfrm>
          <a:prstGeom prst="rect">
            <a:avLst/>
          </a:prstGeom>
          <a:solidFill>
            <a:srgbClr val="0D1017"/>
          </a:solidFill>
          <a:ln/>
        </p:spPr>
      </p:sp>
      <p:sp>
        <p:nvSpPr>
          <p:cNvPr id="10" name="Shape 8"/>
          <p:cNvSpPr/>
          <p:nvPr/>
        </p:nvSpPr>
        <p:spPr>
          <a:xfrm>
            <a:off x="320040" y="1993392"/>
            <a:ext cx="36576" cy="1298448"/>
          </a:xfrm>
          <a:prstGeom prst="rect">
            <a:avLst/>
          </a:prstGeom>
          <a:solidFill>
            <a:srgbClr val="C9A84C"/>
          </a:solidFill>
          <a:ln/>
        </p:spPr>
      </p:sp>
      <p:sp>
        <p:nvSpPr>
          <p:cNvPr id="11" name="Text 9"/>
          <p:cNvSpPr/>
          <p:nvPr/>
        </p:nvSpPr>
        <p:spPr>
          <a:xfrm>
            <a:off x="448056" y="2084832"/>
            <a:ext cx="2505456" cy="292608"/>
          </a:xfrm>
          <a:prstGeom prst="rect">
            <a:avLst/>
          </a:prstGeom>
          <a:noFill/>
          <a:ln/>
        </p:spPr>
        <p:txBody>
          <a:bodyPr wrap="square" rtlCol="0" anchor="ctr"/>
          <a:lstStyle/>
          <a:p>
            <a:pPr indent="0" marL="0">
              <a:buNone/>
            </a:pPr>
            <a:r>
              <a:rPr lang="en-US" sz="1150" b="1" dirty="0">
                <a:solidFill>
                  <a:srgbClr val="E8E4D9"/>
                </a:solidFill>
                <a:latin typeface="Calibri" pitchFamily="34" charset="0"/>
                <a:ea typeface="Calibri" pitchFamily="34" charset="-122"/>
                <a:cs typeface="Calibri" pitchFamily="34" charset="-120"/>
              </a:rPr>
              <a:t>Données Marchés Live</a:t>
            </a:r>
            <a:endParaRPr lang="en-US" sz="1150" dirty="0"/>
          </a:p>
        </p:txBody>
      </p:sp>
      <p:sp>
        <p:nvSpPr>
          <p:cNvPr id="12" name="Text 10"/>
          <p:cNvSpPr/>
          <p:nvPr/>
        </p:nvSpPr>
        <p:spPr>
          <a:xfrm>
            <a:off x="448056" y="2414016"/>
            <a:ext cx="2505456" cy="804672"/>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Ticker temps réel, graphiques — 180+ marchés. Actions, commodités, forex, crypto, obligations.</a:t>
            </a:r>
            <a:endParaRPr lang="en-US" sz="1000" dirty="0"/>
          </a:p>
        </p:txBody>
      </p:sp>
      <p:sp>
        <p:nvSpPr>
          <p:cNvPr id="13" name="Shape 11"/>
          <p:cNvSpPr/>
          <p:nvPr/>
        </p:nvSpPr>
        <p:spPr>
          <a:xfrm>
            <a:off x="3200400" y="1993392"/>
            <a:ext cx="2743200" cy="1298448"/>
          </a:xfrm>
          <a:prstGeom prst="rect">
            <a:avLst/>
          </a:prstGeom>
          <a:solidFill>
            <a:srgbClr val="0D1017"/>
          </a:solidFill>
          <a:ln/>
        </p:spPr>
      </p:sp>
      <p:sp>
        <p:nvSpPr>
          <p:cNvPr id="14" name="Shape 12"/>
          <p:cNvSpPr/>
          <p:nvPr/>
        </p:nvSpPr>
        <p:spPr>
          <a:xfrm>
            <a:off x="3200400" y="1993392"/>
            <a:ext cx="36576" cy="1298448"/>
          </a:xfrm>
          <a:prstGeom prst="rect">
            <a:avLst/>
          </a:prstGeom>
          <a:solidFill>
            <a:srgbClr val="C9A84C"/>
          </a:solidFill>
          <a:ln/>
        </p:spPr>
      </p:sp>
      <p:sp>
        <p:nvSpPr>
          <p:cNvPr id="15" name="Text 13"/>
          <p:cNvSpPr/>
          <p:nvPr/>
        </p:nvSpPr>
        <p:spPr>
          <a:xfrm>
            <a:off x="3328416" y="2084832"/>
            <a:ext cx="2505456" cy="292608"/>
          </a:xfrm>
          <a:prstGeom prst="rect">
            <a:avLst/>
          </a:prstGeom>
          <a:noFill/>
          <a:ln/>
        </p:spPr>
        <p:txBody>
          <a:bodyPr wrap="square" rtlCol="0" anchor="ctr"/>
          <a:lstStyle/>
          <a:p>
            <a:pPr indent="0" marL="0">
              <a:buNone/>
            </a:pPr>
            <a:r>
              <a:rPr lang="en-US" sz="1150" b="1" dirty="0">
                <a:solidFill>
                  <a:srgbClr val="E8E4D9"/>
                </a:solidFill>
                <a:latin typeface="Calibri" pitchFamily="34" charset="0"/>
                <a:ea typeface="Calibri" pitchFamily="34" charset="-122"/>
                <a:cs typeface="Calibri" pitchFamily="34" charset="-120"/>
              </a:rPr>
              <a:t>Intelligence Éditoriale</a:t>
            </a:r>
            <a:endParaRPr lang="en-US" sz="1150" dirty="0"/>
          </a:p>
        </p:txBody>
      </p:sp>
      <p:sp>
        <p:nvSpPr>
          <p:cNvPr id="16" name="Text 14"/>
          <p:cNvSpPr/>
          <p:nvPr/>
        </p:nvSpPr>
        <p:spPr>
          <a:xfrm>
            <a:off x="3328416" y="2414016"/>
            <a:ext cx="2505456" cy="804672"/>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Équipe de journalistes financiers. Analyses profondes, briefings quotidiens, focus Afrique.</a:t>
            </a:r>
            <a:endParaRPr lang="en-US" sz="1000" dirty="0"/>
          </a:p>
        </p:txBody>
      </p:sp>
      <p:sp>
        <p:nvSpPr>
          <p:cNvPr id="17" name="Shape 15"/>
          <p:cNvSpPr/>
          <p:nvPr/>
        </p:nvSpPr>
        <p:spPr>
          <a:xfrm>
            <a:off x="6080760" y="1993392"/>
            <a:ext cx="2743200" cy="1298448"/>
          </a:xfrm>
          <a:prstGeom prst="rect">
            <a:avLst/>
          </a:prstGeom>
          <a:solidFill>
            <a:srgbClr val="0D1017"/>
          </a:solidFill>
          <a:ln/>
        </p:spPr>
      </p:sp>
      <p:sp>
        <p:nvSpPr>
          <p:cNvPr id="18" name="Shape 16"/>
          <p:cNvSpPr/>
          <p:nvPr/>
        </p:nvSpPr>
        <p:spPr>
          <a:xfrm>
            <a:off x="6080760" y="1993392"/>
            <a:ext cx="36576" cy="1298448"/>
          </a:xfrm>
          <a:prstGeom prst="rect">
            <a:avLst/>
          </a:prstGeom>
          <a:solidFill>
            <a:srgbClr val="C9A84C"/>
          </a:solidFill>
          <a:ln/>
        </p:spPr>
      </p:sp>
      <p:sp>
        <p:nvSpPr>
          <p:cNvPr id="19" name="Text 17"/>
          <p:cNvSpPr/>
          <p:nvPr/>
        </p:nvSpPr>
        <p:spPr>
          <a:xfrm>
            <a:off x="6208776" y="2084832"/>
            <a:ext cx="2505456" cy="292608"/>
          </a:xfrm>
          <a:prstGeom prst="rect">
            <a:avLst/>
          </a:prstGeom>
          <a:noFill/>
          <a:ln/>
        </p:spPr>
        <p:txBody>
          <a:bodyPr wrap="square" rtlCol="0" anchor="ctr"/>
          <a:lstStyle/>
          <a:p>
            <a:pPr indent="0" marL="0">
              <a:buNone/>
            </a:pPr>
            <a:r>
              <a:rPr lang="en-US" sz="1150" b="1" dirty="0">
                <a:solidFill>
                  <a:srgbClr val="E8E4D9"/>
                </a:solidFill>
                <a:latin typeface="Calibri" pitchFamily="34" charset="0"/>
                <a:ea typeface="Calibri" pitchFamily="34" charset="-122"/>
                <a:cs typeface="Calibri" pitchFamily="34" charset="-120"/>
              </a:rPr>
              <a:t>Tableau d'Opportunités</a:t>
            </a:r>
            <a:endParaRPr lang="en-US" sz="1150" dirty="0"/>
          </a:p>
        </p:txBody>
      </p:sp>
      <p:sp>
        <p:nvSpPr>
          <p:cNvPr id="20" name="Text 18"/>
          <p:cNvSpPr/>
          <p:nvPr/>
        </p:nvSpPr>
        <p:spPr>
          <a:xfrm>
            <a:off x="6208776" y="2414016"/>
            <a:ext cx="2505456" cy="804672"/>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IPOs, obligations, startups africaines — chaque deal qualifié avec note de risque et brief.</a:t>
            </a:r>
            <a:endParaRPr lang="en-US" sz="1000" dirty="0"/>
          </a:p>
        </p:txBody>
      </p:sp>
      <p:sp>
        <p:nvSpPr>
          <p:cNvPr id="21" name="Shape 19"/>
          <p:cNvSpPr/>
          <p:nvPr/>
        </p:nvSpPr>
        <p:spPr>
          <a:xfrm>
            <a:off x="320040" y="3410712"/>
            <a:ext cx="2743200" cy="1298448"/>
          </a:xfrm>
          <a:prstGeom prst="rect">
            <a:avLst/>
          </a:prstGeom>
          <a:solidFill>
            <a:srgbClr val="0D1017"/>
          </a:solidFill>
          <a:ln/>
        </p:spPr>
      </p:sp>
      <p:sp>
        <p:nvSpPr>
          <p:cNvPr id="22" name="Shape 20"/>
          <p:cNvSpPr/>
          <p:nvPr/>
        </p:nvSpPr>
        <p:spPr>
          <a:xfrm>
            <a:off x="320040" y="3410712"/>
            <a:ext cx="36576" cy="1298448"/>
          </a:xfrm>
          <a:prstGeom prst="rect">
            <a:avLst/>
          </a:prstGeom>
          <a:solidFill>
            <a:srgbClr val="C9A84C"/>
          </a:solidFill>
          <a:ln/>
        </p:spPr>
      </p:sp>
      <p:sp>
        <p:nvSpPr>
          <p:cNvPr id="23" name="Text 21"/>
          <p:cNvSpPr/>
          <p:nvPr/>
        </p:nvSpPr>
        <p:spPr>
          <a:xfrm>
            <a:off x="448056" y="3502152"/>
            <a:ext cx="2505456" cy="292608"/>
          </a:xfrm>
          <a:prstGeom prst="rect">
            <a:avLst/>
          </a:prstGeom>
          <a:noFill/>
          <a:ln/>
        </p:spPr>
        <p:txBody>
          <a:bodyPr wrap="square" rtlCol="0" anchor="ctr"/>
          <a:lstStyle/>
          <a:p>
            <a:pPr indent="0" marL="0">
              <a:buNone/>
            </a:pPr>
            <a:r>
              <a:rPr lang="en-US" sz="1150" b="1" dirty="0">
                <a:solidFill>
                  <a:srgbClr val="E8E4D9"/>
                </a:solidFill>
                <a:latin typeface="Calibri" pitchFamily="34" charset="0"/>
                <a:ea typeface="Calibri" pitchFamily="34" charset="-122"/>
                <a:cs typeface="Calibri" pitchFamily="34" charset="-120"/>
              </a:rPr>
              <a:t>Académie Financière</a:t>
            </a:r>
            <a:endParaRPr lang="en-US" sz="1150" dirty="0"/>
          </a:p>
        </p:txBody>
      </p:sp>
      <p:sp>
        <p:nvSpPr>
          <p:cNvPr id="24" name="Text 22"/>
          <p:cNvSpPr/>
          <p:nvPr/>
        </p:nvSpPr>
        <p:spPr>
          <a:xfrm>
            <a:off x="448056" y="3831336"/>
            <a:ext cx="2505456" cy="804672"/>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Modules du débutant à l'expert. Gratuits, bilingues FR/EN, accessibles hors-ligne.</a:t>
            </a:r>
            <a:endParaRPr lang="en-US" sz="1000" dirty="0"/>
          </a:p>
        </p:txBody>
      </p:sp>
      <p:sp>
        <p:nvSpPr>
          <p:cNvPr id="25" name="Shape 23"/>
          <p:cNvSpPr/>
          <p:nvPr/>
        </p:nvSpPr>
        <p:spPr>
          <a:xfrm>
            <a:off x="3200400" y="3410712"/>
            <a:ext cx="2743200" cy="1298448"/>
          </a:xfrm>
          <a:prstGeom prst="rect">
            <a:avLst/>
          </a:prstGeom>
          <a:solidFill>
            <a:srgbClr val="0D1017"/>
          </a:solidFill>
          <a:ln/>
        </p:spPr>
      </p:sp>
      <p:sp>
        <p:nvSpPr>
          <p:cNvPr id="26" name="Shape 24"/>
          <p:cNvSpPr/>
          <p:nvPr/>
        </p:nvSpPr>
        <p:spPr>
          <a:xfrm>
            <a:off x="3200400" y="3410712"/>
            <a:ext cx="36576" cy="1298448"/>
          </a:xfrm>
          <a:prstGeom prst="rect">
            <a:avLst/>
          </a:prstGeom>
          <a:solidFill>
            <a:srgbClr val="C9A84C"/>
          </a:solidFill>
          <a:ln/>
        </p:spPr>
      </p:sp>
      <p:sp>
        <p:nvSpPr>
          <p:cNvPr id="27" name="Text 25"/>
          <p:cNvSpPr/>
          <p:nvPr/>
        </p:nvSpPr>
        <p:spPr>
          <a:xfrm>
            <a:off x="3328416" y="3502152"/>
            <a:ext cx="2505456" cy="292608"/>
          </a:xfrm>
          <a:prstGeom prst="rect">
            <a:avLst/>
          </a:prstGeom>
          <a:noFill/>
          <a:ln/>
        </p:spPr>
        <p:txBody>
          <a:bodyPr wrap="square" rtlCol="0" anchor="ctr"/>
          <a:lstStyle/>
          <a:p>
            <a:pPr indent="0" marL="0">
              <a:buNone/>
            </a:pPr>
            <a:r>
              <a:rPr lang="en-US" sz="1150" b="1" dirty="0">
                <a:solidFill>
                  <a:srgbClr val="E8E4D9"/>
                </a:solidFill>
                <a:latin typeface="Calibri" pitchFamily="34" charset="0"/>
                <a:ea typeface="Calibri" pitchFamily="34" charset="-122"/>
                <a:cs typeface="Calibri" pitchFamily="34" charset="-120"/>
              </a:rPr>
              <a:t>Orientation Portefeuille</a:t>
            </a:r>
            <a:endParaRPr lang="en-US" sz="1150" dirty="0"/>
          </a:p>
        </p:txBody>
      </p:sp>
      <p:sp>
        <p:nvSpPr>
          <p:cNvPr id="28" name="Text 26"/>
          <p:cNvSpPr/>
          <p:nvPr/>
        </p:nvSpPr>
        <p:spPr>
          <a:xfrm>
            <a:off x="3328416" y="3831336"/>
            <a:ext cx="2505456" cy="804672"/>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Guidance éditoriale factuelle. Tendances documentées. Autorité silencieuse — jamais de conseil direct.</a:t>
            </a:r>
            <a:endParaRPr lang="en-US" sz="1000" dirty="0"/>
          </a:p>
        </p:txBody>
      </p:sp>
      <p:sp>
        <p:nvSpPr>
          <p:cNvPr id="29" name="Shape 27"/>
          <p:cNvSpPr/>
          <p:nvPr/>
        </p:nvSpPr>
        <p:spPr>
          <a:xfrm>
            <a:off x="6080760" y="3410712"/>
            <a:ext cx="2743200" cy="1298448"/>
          </a:xfrm>
          <a:prstGeom prst="rect">
            <a:avLst/>
          </a:prstGeom>
          <a:solidFill>
            <a:srgbClr val="0D1017"/>
          </a:solidFill>
          <a:ln/>
        </p:spPr>
      </p:sp>
      <p:sp>
        <p:nvSpPr>
          <p:cNvPr id="30" name="Shape 28"/>
          <p:cNvSpPr/>
          <p:nvPr/>
        </p:nvSpPr>
        <p:spPr>
          <a:xfrm>
            <a:off x="6080760" y="3410712"/>
            <a:ext cx="36576" cy="1298448"/>
          </a:xfrm>
          <a:prstGeom prst="rect">
            <a:avLst/>
          </a:prstGeom>
          <a:solidFill>
            <a:srgbClr val="C9A84C"/>
          </a:solidFill>
          <a:ln/>
        </p:spPr>
      </p:sp>
      <p:sp>
        <p:nvSpPr>
          <p:cNvPr id="31" name="Text 29"/>
          <p:cNvSpPr/>
          <p:nvPr/>
        </p:nvSpPr>
        <p:spPr>
          <a:xfrm>
            <a:off x="6208776" y="3502152"/>
            <a:ext cx="2505456" cy="292608"/>
          </a:xfrm>
          <a:prstGeom prst="rect">
            <a:avLst/>
          </a:prstGeom>
          <a:noFill/>
          <a:ln/>
        </p:spPr>
        <p:txBody>
          <a:bodyPr wrap="square" rtlCol="0" anchor="ctr"/>
          <a:lstStyle/>
          <a:p>
            <a:pPr indent="0" marL="0">
              <a:buNone/>
            </a:pPr>
            <a:r>
              <a:rPr lang="en-US" sz="1150" b="1" dirty="0">
                <a:solidFill>
                  <a:srgbClr val="E8E4D9"/>
                </a:solidFill>
                <a:latin typeface="Calibri" pitchFamily="34" charset="0"/>
                <a:ea typeface="Calibri" pitchFamily="34" charset="-122"/>
                <a:cs typeface="Calibri" pitchFamily="34" charset="-120"/>
              </a:rPr>
              <a:t>Hub Diaspora &amp; Mobile</a:t>
            </a:r>
            <a:endParaRPr lang="en-US" sz="1150" dirty="0"/>
          </a:p>
        </p:txBody>
      </p:sp>
      <p:sp>
        <p:nvSpPr>
          <p:cNvPr id="32" name="Text 30"/>
          <p:cNvSpPr/>
          <p:nvPr/>
        </p:nvSpPr>
        <p:spPr>
          <a:xfrm>
            <a:off x="6208776" y="3831336"/>
            <a:ext cx="2505456" cy="804672"/>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Application PWA installable, paiement Mobile Money, mode hors-ligne — pensé pour le terrain africain.</a:t>
            </a:r>
            <a:endParaRPr lang="en-US" sz="1000" dirty="0"/>
          </a:p>
        </p:txBody>
      </p:sp>
      <p:sp>
        <p:nvSpPr>
          <p:cNvPr id="33" name="Text 31"/>
          <p:cNvSpPr/>
          <p:nvPr/>
        </p:nvSpPr>
        <p:spPr>
          <a:xfrm>
            <a:off x="8732520" y="4800600"/>
            <a:ext cx="365760" cy="228600"/>
          </a:xfrm>
          <a:prstGeom prst="rect">
            <a:avLst/>
          </a:prstGeom>
          <a:noFill/>
          <a:ln/>
        </p:spPr>
        <p:txBody>
          <a:bodyPr wrap="square" rtlCol="0" anchor="ctr"/>
          <a:lstStyle/>
          <a:p>
            <a:pPr indent="0" marL="0">
              <a:buNone/>
            </a:pPr>
            <a:r>
              <a:rPr lang="en-US" sz="900" dirty="0">
                <a:solidFill>
                  <a:srgbClr val="6B6048"/>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A0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017"/>
          </a:solidFill>
          <a:ln/>
        </p:spPr>
      </p:sp>
      <p:sp>
        <p:nvSpPr>
          <p:cNvPr id="3" name="Shape 1"/>
          <p:cNvSpPr/>
          <p:nvPr/>
        </p:nvSpPr>
        <p:spPr>
          <a:xfrm>
            <a:off x="0" y="822960"/>
            <a:ext cx="9144000" cy="36576"/>
          </a:xfrm>
          <a:prstGeom prst="rect">
            <a:avLst/>
          </a:prstGeom>
          <a:solidFill>
            <a:srgbClr val="C9A84C"/>
          </a:solidFill>
          <a:ln/>
        </p:spPr>
      </p:sp>
      <p:sp>
        <p:nvSpPr>
          <p:cNvPr id="4" name="Text 2"/>
          <p:cNvSpPr/>
          <p:nvPr/>
        </p:nvSpPr>
        <p:spPr>
          <a:xfrm>
            <a:off x="411480" y="128016"/>
            <a:ext cx="8229600" cy="256032"/>
          </a:xfrm>
          <a:prstGeom prst="rect">
            <a:avLst/>
          </a:prstGeom>
          <a:noFill/>
          <a:ln/>
        </p:spPr>
        <p:txBody>
          <a:bodyPr wrap="square" rtlCol="0" anchor="ctr"/>
          <a:lstStyle/>
          <a:p>
            <a:pPr indent="0" marL="0">
              <a:buNone/>
            </a:pPr>
            <a:r>
              <a:rPr lang="en-US" sz="900" spc="400" kern="0" dirty="0">
                <a:solidFill>
                  <a:srgbClr val="8A6A20"/>
                </a:solidFill>
                <a:latin typeface="Calibri" pitchFamily="34" charset="0"/>
                <a:ea typeface="Calibri" pitchFamily="34" charset="-122"/>
                <a:cs typeface="Calibri" pitchFamily="34" charset="-120"/>
              </a:rPr>
              <a:t>MODÈLE ÉCONOMIQUE</a:t>
            </a:r>
            <a:endParaRPr lang="en-US" sz="900" dirty="0"/>
          </a:p>
        </p:txBody>
      </p:sp>
      <p:sp>
        <p:nvSpPr>
          <p:cNvPr id="5" name="Text 3"/>
          <p:cNvSpPr/>
          <p:nvPr/>
        </p:nvSpPr>
        <p:spPr>
          <a:xfrm>
            <a:off x="411480" y="402336"/>
            <a:ext cx="8229600" cy="347472"/>
          </a:xfrm>
          <a:prstGeom prst="rect">
            <a:avLst/>
          </a:prstGeom>
          <a:noFill/>
          <a:ln/>
        </p:spPr>
        <p:txBody>
          <a:bodyPr wrap="square" rtlCol="0" anchor="ctr"/>
          <a:lstStyle/>
          <a:p>
            <a:pPr indent="0" marL="0">
              <a:buNone/>
            </a:pPr>
            <a:r>
              <a:rPr lang="en-US" sz="1800" b="1" dirty="0">
                <a:solidFill>
                  <a:srgbClr val="E8E4D9"/>
                </a:solidFill>
                <a:latin typeface="Georgia" pitchFamily="34" charset="0"/>
                <a:ea typeface="Georgia" pitchFamily="34" charset="-122"/>
                <a:cs typeface="Georgia" pitchFamily="34" charset="-120"/>
              </a:rPr>
              <a:t>SOPECAM Apporte la Marque — Les Partenaires Apportent la Capacité</a:t>
            </a:r>
            <a:endParaRPr lang="en-US" sz="1800" dirty="0"/>
          </a:p>
        </p:txBody>
      </p:sp>
      <p:sp>
        <p:nvSpPr>
          <p:cNvPr id="6" name="Shape 4"/>
          <p:cNvSpPr/>
          <p:nvPr/>
        </p:nvSpPr>
        <p:spPr>
          <a:xfrm>
            <a:off x="3291840" y="960120"/>
            <a:ext cx="2560320" cy="1097280"/>
          </a:xfrm>
          <a:prstGeom prst="rect">
            <a:avLst/>
          </a:prstGeom>
          <a:solidFill>
            <a:srgbClr val="C9A84C"/>
          </a:solidFill>
          <a:ln/>
        </p:spPr>
      </p:sp>
      <p:sp>
        <p:nvSpPr>
          <p:cNvPr id="7" name="Text 5"/>
          <p:cNvSpPr/>
          <p:nvPr/>
        </p:nvSpPr>
        <p:spPr>
          <a:xfrm>
            <a:off x="3291840" y="1024128"/>
            <a:ext cx="2560320" cy="365760"/>
          </a:xfrm>
          <a:prstGeom prst="rect">
            <a:avLst/>
          </a:prstGeom>
          <a:noFill/>
          <a:ln/>
        </p:spPr>
        <p:txBody>
          <a:bodyPr wrap="square" rtlCol="0" anchor="ctr"/>
          <a:lstStyle/>
          <a:p>
            <a:pPr algn="ctr" indent="0" marL="0">
              <a:buNone/>
            </a:pPr>
            <a:r>
              <a:rPr lang="en-US" sz="1600" b="1" dirty="0">
                <a:solidFill>
                  <a:srgbClr val="080A0E"/>
                </a:solidFill>
                <a:latin typeface="Georgia" pitchFamily="34" charset="0"/>
                <a:ea typeface="Georgia" pitchFamily="34" charset="-122"/>
                <a:cs typeface="Georgia" pitchFamily="34" charset="-120"/>
              </a:rPr>
              <a:t>SOPECAM</a:t>
            </a:r>
            <a:endParaRPr lang="en-US" sz="1600" dirty="0"/>
          </a:p>
        </p:txBody>
      </p:sp>
      <p:sp>
        <p:nvSpPr>
          <p:cNvPr id="8" name="Text 6"/>
          <p:cNvSpPr/>
          <p:nvPr/>
        </p:nvSpPr>
        <p:spPr>
          <a:xfrm>
            <a:off x="3291840" y="1417320"/>
            <a:ext cx="2560320" cy="502920"/>
          </a:xfrm>
          <a:prstGeom prst="rect">
            <a:avLst/>
          </a:prstGeom>
          <a:noFill/>
          <a:ln/>
        </p:spPr>
        <p:txBody>
          <a:bodyPr wrap="square" rtlCol="0" anchor="ctr"/>
          <a:lstStyle/>
          <a:p>
            <a:pPr algn="ctr" indent="0" marL="0">
              <a:buNone/>
            </a:pPr>
            <a:r>
              <a:rPr lang="en-US" sz="950" dirty="0">
                <a:solidFill>
                  <a:srgbClr val="0D1017"/>
                </a:solidFill>
                <a:latin typeface="Calibri" pitchFamily="34" charset="0"/>
                <a:ea typeface="Calibri" pitchFamily="34" charset="-122"/>
                <a:cs typeface="Calibri" pitchFamily="34" charset="-120"/>
              </a:rPr>
              <a:t>Marque · Licence Éditoriale</a:t>
            </a:r>
            <a:endParaRPr lang="en-US" sz="950" dirty="0"/>
          </a:p>
          <a:p>
            <a:pPr algn="ctr" indent="0" marL="0">
              <a:buNone/>
            </a:pPr>
            <a:r>
              <a:rPr lang="en-US" sz="950" dirty="0">
                <a:solidFill>
                  <a:srgbClr val="0D1017"/>
                </a:solidFill>
                <a:latin typeface="Calibri" pitchFamily="34" charset="0"/>
                <a:ea typeface="Calibri" pitchFamily="34" charset="-122"/>
                <a:cs typeface="Calibri" pitchFamily="34" charset="-120"/>
              </a:rPr>
              <a:t>Audience · Crédibilité Institutionnelle</a:t>
            </a:r>
            <a:endParaRPr lang="en-US" sz="950" dirty="0"/>
          </a:p>
        </p:txBody>
      </p:sp>
      <p:sp>
        <p:nvSpPr>
          <p:cNvPr id="9" name="Shape 7"/>
          <p:cNvSpPr/>
          <p:nvPr/>
        </p:nvSpPr>
        <p:spPr>
          <a:xfrm>
            <a:off x="228600" y="2286000"/>
            <a:ext cx="2560320" cy="1508760"/>
          </a:xfrm>
          <a:prstGeom prst="rect">
            <a:avLst/>
          </a:prstGeom>
          <a:solidFill>
            <a:srgbClr val="0D1017"/>
          </a:solidFill>
          <a:ln/>
        </p:spPr>
      </p:sp>
      <p:sp>
        <p:nvSpPr>
          <p:cNvPr id="10" name="Shape 8"/>
          <p:cNvSpPr/>
          <p:nvPr/>
        </p:nvSpPr>
        <p:spPr>
          <a:xfrm>
            <a:off x="228600" y="2286000"/>
            <a:ext cx="2560320" cy="36576"/>
          </a:xfrm>
          <a:prstGeom prst="rect">
            <a:avLst/>
          </a:prstGeom>
          <a:solidFill>
            <a:srgbClr val="8A6A20"/>
          </a:solidFill>
          <a:ln/>
        </p:spPr>
      </p:sp>
      <p:sp>
        <p:nvSpPr>
          <p:cNvPr id="11" name="Text 9"/>
          <p:cNvSpPr/>
          <p:nvPr/>
        </p:nvSpPr>
        <p:spPr>
          <a:xfrm>
            <a:off x="338328" y="2377440"/>
            <a:ext cx="2340864" cy="292608"/>
          </a:xfrm>
          <a:prstGeom prst="rect">
            <a:avLst/>
          </a:prstGeom>
          <a:noFill/>
          <a:ln/>
        </p:spPr>
        <p:txBody>
          <a:bodyPr wrap="square" rtlCol="0" anchor="ctr"/>
          <a:lstStyle/>
          <a:p>
            <a:pPr indent="0" marL="0">
              <a:buNone/>
            </a:pPr>
            <a:r>
              <a:rPr lang="en-US" sz="1200" b="1" dirty="0">
                <a:solidFill>
                  <a:srgbClr val="E8E4D9"/>
                </a:solidFill>
                <a:latin typeface="Calibri" pitchFamily="34" charset="0"/>
                <a:ea typeface="Calibri" pitchFamily="34" charset="-122"/>
                <a:cs typeface="Calibri" pitchFamily="34" charset="-120"/>
              </a:rPr>
              <a:t>Partenaire Data</a:t>
            </a:r>
            <a:endParaRPr lang="en-US" sz="1200" dirty="0"/>
          </a:p>
        </p:txBody>
      </p:sp>
      <p:sp>
        <p:nvSpPr>
          <p:cNvPr id="12" name="Text 10"/>
          <p:cNvSpPr/>
          <p:nvPr/>
        </p:nvSpPr>
        <p:spPr>
          <a:xfrm>
            <a:off x="338328" y="2743200"/>
            <a:ext cx="2340864" cy="960120"/>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Refinitiv/Reuters</a:t>
            </a:r>
            <a:endParaRPr lang="en-US" sz="1000" dirty="0"/>
          </a:p>
          <a:p>
            <a:pPr indent="0" marL="0">
              <a:buNone/>
            </a:pPr>
            <a:r>
              <a:rPr lang="en-US" sz="1000" dirty="0">
                <a:solidFill>
                  <a:srgbClr val="A89F8A"/>
                </a:solidFill>
                <a:latin typeface="Calibri" pitchFamily="34" charset="0"/>
                <a:ea typeface="Calibri" pitchFamily="34" charset="-122"/>
                <a:cs typeface="Calibri" pitchFamily="34" charset="-120"/>
              </a:rPr>
              <a:t>Flux marchés temps réel</a:t>
            </a:r>
            <a:endParaRPr lang="en-US" sz="1000" dirty="0"/>
          </a:p>
          <a:p>
            <a:pPr indent="0" marL="0">
              <a:buNone/>
            </a:pPr>
            <a:r>
              <a:rPr lang="en-US" sz="1000" dirty="0">
                <a:solidFill>
                  <a:srgbClr val="A89F8A"/>
                </a:solidFill>
                <a:latin typeface="Calibri" pitchFamily="34" charset="0"/>
                <a:ea typeface="Calibri" pitchFamily="34" charset="-122"/>
                <a:cs typeface="Calibri" pitchFamily="34" charset="-120"/>
              </a:rPr>
              <a:t>Licence API négociée</a:t>
            </a:r>
            <a:endParaRPr lang="en-US" sz="1000" dirty="0"/>
          </a:p>
        </p:txBody>
      </p:sp>
      <p:sp>
        <p:nvSpPr>
          <p:cNvPr id="13" name="Shape 11"/>
          <p:cNvSpPr/>
          <p:nvPr/>
        </p:nvSpPr>
        <p:spPr>
          <a:xfrm>
            <a:off x="3291840" y="2286000"/>
            <a:ext cx="2560320" cy="1508760"/>
          </a:xfrm>
          <a:prstGeom prst="rect">
            <a:avLst/>
          </a:prstGeom>
          <a:solidFill>
            <a:srgbClr val="0D1017"/>
          </a:solidFill>
          <a:ln/>
        </p:spPr>
      </p:sp>
      <p:sp>
        <p:nvSpPr>
          <p:cNvPr id="14" name="Shape 12"/>
          <p:cNvSpPr/>
          <p:nvPr/>
        </p:nvSpPr>
        <p:spPr>
          <a:xfrm>
            <a:off x="3291840" y="2286000"/>
            <a:ext cx="2560320" cy="36576"/>
          </a:xfrm>
          <a:prstGeom prst="rect">
            <a:avLst/>
          </a:prstGeom>
          <a:solidFill>
            <a:srgbClr val="4CAF75"/>
          </a:solidFill>
          <a:ln/>
        </p:spPr>
      </p:sp>
      <p:sp>
        <p:nvSpPr>
          <p:cNvPr id="15" name="Text 13"/>
          <p:cNvSpPr/>
          <p:nvPr/>
        </p:nvSpPr>
        <p:spPr>
          <a:xfrm>
            <a:off x="3401568" y="2377440"/>
            <a:ext cx="2340864" cy="292608"/>
          </a:xfrm>
          <a:prstGeom prst="rect">
            <a:avLst/>
          </a:prstGeom>
          <a:noFill/>
          <a:ln/>
        </p:spPr>
        <p:txBody>
          <a:bodyPr wrap="square" rtlCol="0" anchor="ctr"/>
          <a:lstStyle/>
          <a:p>
            <a:pPr indent="0" marL="0">
              <a:buNone/>
            </a:pPr>
            <a:r>
              <a:rPr lang="en-US" sz="1200" b="1" dirty="0">
                <a:solidFill>
                  <a:srgbClr val="E8E4D9"/>
                </a:solidFill>
                <a:latin typeface="Calibri" pitchFamily="34" charset="0"/>
                <a:ea typeface="Calibri" pitchFamily="34" charset="-122"/>
                <a:cs typeface="Calibri" pitchFamily="34" charset="-120"/>
              </a:rPr>
              <a:t>Partenaire Tech</a:t>
            </a:r>
            <a:endParaRPr lang="en-US" sz="1200" dirty="0"/>
          </a:p>
        </p:txBody>
      </p:sp>
      <p:sp>
        <p:nvSpPr>
          <p:cNvPr id="16" name="Text 14"/>
          <p:cNvSpPr/>
          <p:nvPr/>
        </p:nvSpPr>
        <p:spPr>
          <a:xfrm>
            <a:off x="3401568" y="2743200"/>
            <a:ext cx="2340864" cy="960120"/>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Startup fintech africaine</a:t>
            </a:r>
            <a:endParaRPr lang="en-US" sz="1000" dirty="0"/>
          </a:p>
          <a:p>
            <a:pPr indent="0" marL="0">
              <a:buNone/>
            </a:pPr>
            <a:r>
              <a:rPr lang="en-US" sz="1000" dirty="0">
                <a:solidFill>
                  <a:srgbClr val="A89F8A"/>
                </a:solidFill>
                <a:latin typeface="Calibri" pitchFamily="34" charset="0"/>
                <a:ea typeface="Calibri" pitchFamily="34" charset="-122"/>
                <a:cs typeface="Calibri" pitchFamily="34" charset="-120"/>
              </a:rPr>
              <a:t>Plateforme web &amp; mobile</a:t>
            </a:r>
            <a:endParaRPr lang="en-US" sz="1000" dirty="0"/>
          </a:p>
          <a:p>
            <a:pPr indent="0" marL="0">
              <a:buNone/>
            </a:pPr>
            <a:r>
              <a:rPr lang="en-US" sz="1000" dirty="0">
                <a:solidFill>
                  <a:srgbClr val="A89F8A"/>
                </a:solidFill>
                <a:latin typeface="Calibri" pitchFamily="34" charset="0"/>
                <a:ea typeface="Calibri" pitchFamily="34" charset="-122"/>
                <a:cs typeface="Calibri" pitchFamily="34" charset="-120"/>
              </a:rPr>
              <a:t>Marque blanche SOPECAM</a:t>
            </a:r>
            <a:endParaRPr lang="en-US" sz="1000" dirty="0"/>
          </a:p>
        </p:txBody>
      </p:sp>
      <p:sp>
        <p:nvSpPr>
          <p:cNvPr id="17" name="Shape 15"/>
          <p:cNvSpPr/>
          <p:nvPr/>
        </p:nvSpPr>
        <p:spPr>
          <a:xfrm>
            <a:off x="6355080" y="2286000"/>
            <a:ext cx="2560320" cy="1508760"/>
          </a:xfrm>
          <a:prstGeom prst="rect">
            <a:avLst/>
          </a:prstGeom>
          <a:solidFill>
            <a:srgbClr val="0D1017"/>
          </a:solidFill>
          <a:ln/>
        </p:spPr>
      </p:sp>
      <p:sp>
        <p:nvSpPr>
          <p:cNvPr id="18" name="Shape 16"/>
          <p:cNvSpPr/>
          <p:nvPr/>
        </p:nvSpPr>
        <p:spPr>
          <a:xfrm>
            <a:off x="6355080" y="2286000"/>
            <a:ext cx="2560320" cy="36576"/>
          </a:xfrm>
          <a:prstGeom prst="rect">
            <a:avLst/>
          </a:prstGeom>
          <a:solidFill>
            <a:srgbClr val="378ADD"/>
          </a:solidFill>
          <a:ln/>
        </p:spPr>
      </p:sp>
      <p:sp>
        <p:nvSpPr>
          <p:cNvPr id="19" name="Text 17"/>
          <p:cNvSpPr/>
          <p:nvPr/>
        </p:nvSpPr>
        <p:spPr>
          <a:xfrm>
            <a:off x="6464808" y="2377440"/>
            <a:ext cx="2340864" cy="292608"/>
          </a:xfrm>
          <a:prstGeom prst="rect">
            <a:avLst/>
          </a:prstGeom>
          <a:noFill/>
          <a:ln/>
        </p:spPr>
        <p:txBody>
          <a:bodyPr wrap="square" rtlCol="0" anchor="ctr"/>
          <a:lstStyle/>
          <a:p>
            <a:pPr indent="0" marL="0">
              <a:buNone/>
            </a:pPr>
            <a:r>
              <a:rPr lang="en-US" sz="1200" b="1" dirty="0">
                <a:solidFill>
                  <a:srgbClr val="E8E4D9"/>
                </a:solidFill>
                <a:latin typeface="Calibri" pitchFamily="34" charset="0"/>
                <a:ea typeface="Calibri" pitchFamily="34" charset="-122"/>
                <a:cs typeface="Calibri" pitchFamily="34" charset="-120"/>
              </a:rPr>
              <a:t>Partenaire Accès</a:t>
            </a:r>
            <a:endParaRPr lang="en-US" sz="1200" dirty="0"/>
          </a:p>
        </p:txBody>
      </p:sp>
      <p:sp>
        <p:nvSpPr>
          <p:cNvPr id="20" name="Text 18"/>
          <p:cNvSpPr/>
          <p:nvPr/>
        </p:nvSpPr>
        <p:spPr>
          <a:xfrm>
            <a:off x="6464808" y="2743200"/>
            <a:ext cx="2340864" cy="960120"/>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Broker agréé COSUMAF</a:t>
            </a:r>
            <a:endParaRPr lang="en-US" sz="1000" dirty="0"/>
          </a:p>
          <a:p>
            <a:pPr indent="0" marL="0">
              <a:buNone/>
            </a:pPr>
            <a:r>
              <a:rPr lang="en-US" sz="1000" dirty="0">
                <a:solidFill>
                  <a:srgbClr val="A89F8A"/>
                </a:solidFill>
                <a:latin typeface="Calibri" pitchFamily="34" charset="0"/>
                <a:ea typeface="Calibri" pitchFamily="34" charset="-122"/>
                <a:cs typeface="Calibri" pitchFamily="34" charset="-120"/>
              </a:rPr>
              <a:t>Exécution clients</a:t>
            </a:r>
            <a:endParaRPr lang="en-US" sz="1000" dirty="0"/>
          </a:p>
          <a:p>
            <a:pPr indent="0" marL="0">
              <a:buNone/>
            </a:pPr>
            <a:r>
              <a:rPr lang="en-US" sz="1000" dirty="0">
                <a:solidFill>
                  <a:srgbClr val="A89F8A"/>
                </a:solidFill>
                <a:latin typeface="Calibri" pitchFamily="34" charset="0"/>
                <a:ea typeface="Calibri" pitchFamily="34" charset="-122"/>
                <a:cs typeface="Calibri" pitchFamily="34" charset="-120"/>
              </a:rPr>
              <a:t>Revenu de référencement</a:t>
            </a:r>
            <a:endParaRPr lang="en-US" sz="1000" dirty="0"/>
          </a:p>
        </p:txBody>
      </p:sp>
      <p:sp>
        <p:nvSpPr>
          <p:cNvPr id="21" name="Text 19"/>
          <p:cNvSpPr/>
          <p:nvPr/>
        </p:nvSpPr>
        <p:spPr>
          <a:xfrm>
            <a:off x="320040" y="3913632"/>
            <a:ext cx="8229600" cy="201168"/>
          </a:xfrm>
          <a:prstGeom prst="rect">
            <a:avLst/>
          </a:prstGeom>
          <a:noFill/>
          <a:ln/>
        </p:spPr>
        <p:txBody>
          <a:bodyPr wrap="square" rtlCol="0" anchor="ctr"/>
          <a:lstStyle/>
          <a:p>
            <a:pPr indent="0" marL="0">
              <a:buNone/>
            </a:pPr>
            <a:r>
              <a:rPr lang="en-US" sz="800" spc="200" kern="0" dirty="0">
                <a:solidFill>
                  <a:srgbClr val="6B6048"/>
                </a:solidFill>
                <a:latin typeface="Calibri" pitchFamily="34" charset="0"/>
                <a:ea typeface="Calibri" pitchFamily="34" charset="-122"/>
                <a:cs typeface="Calibri" pitchFamily="34" charset="-120"/>
              </a:rPr>
              <a:t>5 SOURCES DE REVENUS — SOPECAM NE PREND AUCUN RISQUE CAPITAL</a:t>
            </a:r>
            <a:endParaRPr lang="en-US" sz="800" dirty="0"/>
          </a:p>
        </p:txBody>
      </p:sp>
      <p:sp>
        <p:nvSpPr>
          <p:cNvPr id="22" name="Shape 20"/>
          <p:cNvSpPr/>
          <p:nvPr/>
        </p:nvSpPr>
        <p:spPr>
          <a:xfrm>
            <a:off x="320040" y="4160520"/>
            <a:ext cx="1600200" cy="658368"/>
          </a:xfrm>
          <a:prstGeom prst="rect">
            <a:avLst/>
          </a:prstGeom>
          <a:solidFill>
            <a:srgbClr val="0D1017"/>
          </a:solidFill>
          <a:ln/>
        </p:spPr>
      </p:sp>
      <p:sp>
        <p:nvSpPr>
          <p:cNvPr id="23" name="Shape 21"/>
          <p:cNvSpPr/>
          <p:nvPr/>
        </p:nvSpPr>
        <p:spPr>
          <a:xfrm>
            <a:off x="320040" y="4160520"/>
            <a:ext cx="1600200" cy="36576"/>
          </a:xfrm>
          <a:prstGeom prst="rect">
            <a:avLst/>
          </a:prstGeom>
          <a:solidFill>
            <a:srgbClr val="C9A84C"/>
          </a:solidFill>
          <a:ln/>
        </p:spPr>
      </p:sp>
      <p:sp>
        <p:nvSpPr>
          <p:cNvPr id="24" name="Text 22"/>
          <p:cNvSpPr/>
          <p:nvPr/>
        </p:nvSpPr>
        <p:spPr>
          <a:xfrm>
            <a:off x="393192" y="4224528"/>
            <a:ext cx="1453896" cy="256032"/>
          </a:xfrm>
          <a:prstGeom prst="rect">
            <a:avLst/>
          </a:prstGeom>
          <a:noFill/>
          <a:ln/>
        </p:spPr>
        <p:txBody>
          <a:bodyPr wrap="square" rtlCol="0" anchor="ctr"/>
          <a:lstStyle/>
          <a:p>
            <a:pPr indent="0" marL="0">
              <a:buNone/>
            </a:pPr>
            <a:r>
              <a:rPr lang="en-US" sz="900" b="1" dirty="0">
                <a:solidFill>
                  <a:srgbClr val="E8E4D9"/>
                </a:solidFill>
                <a:latin typeface="Calibri" pitchFamily="34" charset="0"/>
                <a:ea typeface="Calibri" pitchFamily="34" charset="-122"/>
                <a:cs typeface="Calibri" pitchFamily="34" charset="-120"/>
              </a:rPr>
              <a:t>Publicité Premium</a:t>
            </a:r>
            <a:endParaRPr lang="en-US" sz="900" dirty="0"/>
          </a:p>
        </p:txBody>
      </p:sp>
      <p:sp>
        <p:nvSpPr>
          <p:cNvPr id="25" name="Text 23"/>
          <p:cNvSpPr/>
          <p:nvPr/>
        </p:nvSpPr>
        <p:spPr>
          <a:xfrm>
            <a:off x="393192" y="4498848"/>
            <a:ext cx="1453896" cy="256032"/>
          </a:xfrm>
          <a:prstGeom prst="rect">
            <a:avLst/>
          </a:prstGeom>
          <a:noFill/>
          <a:ln/>
        </p:spPr>
        <p:txBody>
          <a:bodyPr wrap="square"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45%</a:t>
            </a:r>
            <a:endParaRPr lang="en-US" sz="1100" dirty="0"/>
          </a:p>
        </p:txBody>
      </p:sp>
      <p:sp>
        <p:nvSpPr>
          <p:cNvPr id="26" name="Shape 24"/>
          <p:cNvSpPr/>
          <p:nvPr/>
        </p:nvSpPr>
        <p:spPr>
          <a:xfrm>
            <a:off x="2039112" y="4160520"/>
            <a:ext cx="1600200" cy="658368"/>
          </a:xfrm>
          <a:prstGeom prst="rect">
            <a:avLst/>
          </a:prstGeom>
          <a:solidFill>
            <a:srgbClr val="0D1017"/>
          </a:solidFill>
          <a:ln/>
        </p:spPr>
      </p:sp>
      <p:sp>
        <p:nvSpPr>
          <p:cNvPr id="27" name="Shape 25"/>
          <p:cNvSpPr/>
          <p:nvPr/>
        </p:nvSpPr>
        <p:spPr>
          <a:xfrm>
            <a:off x="2039112" y="4160520"/>
            <a:ext cx="1600200" cy="36576"/>
          </a:xfrm>
          <a:prstGeom prst="rect">
            <a:avLst/>
          </a:prstGeom>
          <a:solidFill>
            <a:srgbClr val="4CAF75"/>
          </a:solidFill>
          <a:ln/>
        </p:spPr>
      </p:sp>
      <p:sp>
        <p:nvSpPr>
          <p:cNvPr id="28" name="Text 26"/>
          <p:cNvSpPr/>
          <p:nvPr/>
        </p:nvSpPr>
        <p:spPr>
          <a:xfrm>
            <a:off x="2112264" y="4224528"/>
            <a:ext cx="1453896" cy="256032"/>
          </a:xfrm>
          <a:prstGeom prst="rect">
            <a:avLst/>
          </a:prstGeom>
          <a:noFill/>
          <a:ln/>
        </p:spPr>
        <p:txBody>
          <a:bodyPr wrap="square" rtlCol="0" anchor="ctr"/>
          <a:lstStyle/>
          <a:p>
            <a:pPr indent="0" marL="0">
              <a:buNone/>
            </a:pPr>
            <a:r>
              <a:rPr lang="en-US" sz="900" b="1" dirty="0">
                <a:solidFill>
                  <a:srgbClr val="E8E4D9"/>
                </a:solidFill>
                <a:latin typeface="Calibri" pitchFamily="34" charset="0"/>
                <a:ea typeface="Calibri" pitchFamily="34" charset="-122"/>
                <a:cs typeface="Calibri" pitchFamily="34" charset="-120"/>
              </a:rPr>
              <a:t>Partenariats Brokers</a:t>
            </a:r>
            <a:endParaRPr lang="en-US" sz="900" dirty="0"/>
          </a:p>
        </p:txBody>
      </p:sp>
      <p:sp>
        <p:nvSpPr>
          <p:cNvPr id="29" name="Text 27"/>
          <p:cNvSpPr/>
          <p:nvPr/>
        </p:nvSpPr>
        <p:spPr>
          <a:xfrm>
            <a:off x="2112264" y="4498848"/>
            <a:ext cx="1453896" cy="256032"/>
          </a:xfrm>
          <a:prstGeom prst="rect">
            <a:avLst/>
          </a:prstGeom>
          <a:noFill/>
          <a:ln/>
        </p:spPr>
        <p:txBody>
          <a:bodyPr wrap="square" rtlCol="0" anchor="ctr"/>
          <a:lstStyle/>
          <a:p>
            <a:pPr indent="0" marL="0">
              <a:buNone/>
            </a:pPr>
            <a:r>
              <a:rPr lang="en-US" sz="1100" b="1" dirty="0">
                <a:solidFill>
                  <a:srgbClr val="4CAF75"/>
                </a:solidFill>
                <a:latin typeface="Calibri" pitchFamily="34" charset="0"/>
                <a:ea typeface="Calibri" pitchFamily="34" charset="-122"/>
                <a:cs typeface="Calibri" pitchFamily="34" charset="-120"/>
              </a:rPr>
              <a:t>25%</a:t>
            </a:r>
            <a:endParaRPr lang="en-US" sz="1100" dirty="0"/>
          </a:p>
        </p:txBody>
      </p:sp>
      <p:sp>
        <p:nvSpPr>
          <p:cNvPr id="30" name="Shape 28"/>
          <p:cNvSpPr/>
          <p:nvPr/>
        </p:nvSpPr>
        <p:spPr>
          <a:xfrm>
            <a:off x="3758184" y="4160520"/>
            <a:ext cx="1600200" cy="658368"/>
          </a:xfrm>
          <a:prstGeom prst="rect">
            <a:avLst/>
          </a:prstGeom>
          <a:solidFill>
            <a:srgbClr val="0D1017"/>
          </a:solidFill>
          <a:ln/>
        </p:spPr>
      </p:sp>
      <p:sp>
        <p:nvSpPr>
          <p:cNvPr id="31" name="Shape 29"/>
          <p:cNvSpPr/>
          <p:nvPr/>
        </p:nvSpPr>
        <p:spPr>
          <a:xfrm>
            <a:off x="3758184" y="4160520"/>
            <a:ext cx="1600200" cy="36576"/>
          </a:xfrm>
          <a:prstGeom prst="rect">
            <a:avLst/>
          </a:prstGeom>
          <a:solidFill>
            <a:srgbClr val="378ADD"/>
          </a:solidFill>
          <a:ln/>
        </p:spPr>
      </p:sp>
      <p:sp>
        <p:nvSpPr>
          <p:cNvPr id="32" name="Text 30"/>
          <p:cNvSpPr/>
          <p:nvPr/>
        </p:nvSpPr>
        <p:spPr>
          <a:xfrm>
            <a:off x="3831336" y="4224528"/>
            <a:ext cx="1453896" cy="256032"/>
          </a:xfrm>
          <a:prstGeom prst="rect">
            <a:avLst/>
          </a:prstGeom>
          <a:noFill/>
          <a:ln/>
        </p:spPr>
        <p:txBody>
          <a:bodyPr wrap="square" rtlCol="0" anchor="ctr"/>
          <a:lstStyle/>
          <a:p>
            <a:pPr indent="0" marL="0">
              <a:buNone/>
            </a:pPr>
            <a:r>
              <a:rPr lang="en-US" sz="900" b="1" dirty="0">
                <a:solidFill>
                  <a:srgbClr val="E8E4D9"/>
                </a:solidFill>
                <a:latin typeface="Calibri" pitchFamily="34" charset="0"/>
                <a:ea typeface="Calibri" pitchFamily="34" charset="-122"/>
                <a:cs typeface="Calibri" pitchFamily="34" charset="-120"/>
              </a:rPr>
              <a:t>Abonnements Pro</a:t>
            </a:r>
            <a:endParaRPr lang="en-US" sz="900" dirty="0"/>
          </a:p>
        </p:txBody>
      </p:sp>
      <p:sp>
        <p:nvSpPr>
          <p:cNvPr id="33" name="Text 31"/>
          <p:cNvSpPr/>
          <p:nvPr/>
        </p:nvSpPr>
        <p:spPr>
          <a:xfrm>
            <a:off x="3831336" y="4498848"/>
            <a:ext cx="1453896" cy="256032"/>
          </a:xfrm>
          <a:prstGeom prst="rect">
            <a:avLst/>
          </a:prstGeom>
          <a:noFill/>
          <a:ln/>
        </p:spPr>
        <p:txBody>
          <a:bodyPr wrap="square" rtlCol="0" anchor="ctr"/>
          <a:lstStyle/>
          <a:p>
            <a:pPr indent="0" marL="0">
              <a:buNone/>
            </a:pPr>
            <a:r>
              <a:rPr lang="en-US" sz="1100" b="1" dirty="0">
                <a:solidFill>
                  <a:srgbClr val="378ADD"/>
                </a:solidFill>
                <a:latin typeface="Calibri" pitchFamily="34" charset="0"/>
                <a:ea typeface="Calibri" pitchFamily="34" charset="-122"/>
                <a:cs typeface="Calibri" pitchFamily="34" charset="-120"/>
              </a:rPr>
              <a:t>15%</a:t>
            </a:r>
            <a:endParaRPr lang="en-US" sz="1100" dirty="0"/>
          </a:p>
        </p:txBody>
      </p:sp>
      <p:sp>
        <p:nvSpPr>
          <p:cNvPr id="34" name="Shape 32"/>
          <p:cNvSpPr/>
          <p:nvPr/>
        </p:nvSpPr>
        <p:spPr>
          <a:xfrm>
            <a:off x="5477256" y="4160520"/>
            <a:ext cx="1600200" cy="658368"/>
          </a:xfrm>
          <a:prstGeom prst="rect">
            <a:avLst/>
          </a:prstGeom>
          <a:solidFill>
            <a:srgbClr val="0D1017"/>
          </a:solidFill>
          <a:ln/>
        </p:spPr>
      </p:sp>
      <p:sp>
        <p:nvSpPr>
          <p:cNvPr id="35" name="Shape 33"/>
          <p:cNvSpPr/>
          <p:nvPr/>
        </p:nvSpPr>
        <p:spPr>
          <a:xfrm>
            <a:off x="5477256" y="4160520"/>
            <a:ext cx="1600200" cy="36576"/>
          </a:xfrm>
          <a:prstGeom prst="rect">
            <a:avLst/>
          </a:prstGeom>
          <a:solidFill>
            <a:srgbClr val="8A6A20"/>
          </a:solidFill>
          <a:ln/>
        </p:spPr>
      </p:sp>
      <p:sp>
        <p:nvSpPr>
          <p:cNvPr id="36" name="Text 34"/>
          <p:cNvSpPr/>
          <p:nvPr/>
        </p:nvSpPr>
        <p:spPr>
          <a:xfrm>
            <a:off x="5550408" y="4224528"/>
            <a:ext cx="1453896" cy="256032"/>
          </a:xfrm>
          <a:prstGeom prst="rect">
            <a:avLst/>
          </a:prstGeom>
          <a:noFill/>
          <a:ln/>
        </p:spPr>
        <p:txBody>
          <a:bodyPr wrap="square" rtlCol="0" anchor="ctr"/>
          <a:lstStyle/>
          <a:p>
            <a:pPr indent="0" marL="0">
              <a:buNone/>
            </a:pPr>
            <a:r>
              <a:rPr lang="en-US" sz="900" b="1" dirty="0">
                <a:solidFill>
                  <a:srgbClr val="E8E4D9"/>
                </a:solidFill>
                <a:latin typeface="Calibri" pitchFamily="34" charset="0"/>
                <a:ea typeface="Calibri" pitchFamily="34" charset="-122"/>
                <a:cs typeface="Calibri" pitchFamily="34" charset="-120"/>
              </a:rPr>
              <a:t>Licences Data B2B</a:t>
            </a:r>
            <a:endParaRPr lang="en-US" sz="900" dirty="0"/>
          </a:p>
        </p:txBody>
      </p:sp>
      <p:sp>
        <p:nvSpPr>
          <p:cNvPr id="37" name="Text 35"/>
          <p:cNvSpPr/>
          <p:nvPr/>
        </p:nvSpPr>
        <p:spPr>
          <a:xfrm>
            <a:off x="5550408" y="4498848"/>
            <a:ext cx="1453896" cy="256032"/>
          </a:xfrm>
          <a:prstGeom prst="rect">
            <a:avLst/>
          </a:prstGeom>
          <a:noFill/>
          <a:ln/>
        </p:spPr>
        <p:txBody>
          <a:bodyPr wrap="square" rtlCol="0" anchor="ctr"/>
          <a:lstStyle/>
          <a:p>
            <a:pPr indent="0" marL="0">
              <a:buNone/>
            </a:pPr>
            <a:r>
              <a:rPr lang="en-US" sz="1100" b="1" dirty="0">
                <a:solidFill>
                  <a:srgbClr val="8A6A20"/>
                </a:solidFill>
                <a:latin typeface="Calibri" pitchFamily="34" charset="0"/>
                <a:ea typeface="Calibri" pitchFamily="34" charset="-122"/>
                <a:cs typeface="Calibri" pitchFamily="34" charset="-120"/>
              </a:rPr>
              <a:t>10%</a:t>
            </a:r>
            <a:endParaRPr lang="en-US" sz="1100" dirty="0"/>
          </a:p>
        </p:txBody>
      </p:sp>
      <p:sp>
        <p:nvSpPr>
          <p:cNvPr id="38" name="Shape 36"/>
          <p:cNvSpPr/>
          <p:nvPr/>
        </p:nvSpPr>
        <p:spPr>
          <a:xfrm>
            <a:off x="7196328" y="4160520"/>
            <a:ext cx="1600200" cy="658368"/>
          </a:xfrm>
          <a:prstGeom prst="rect">
            <a:avLst/>
          </a:prstGeom>
          <a:solidFill>
            <a:srgbClr val="0D1017"/>
          </a:solidFill>
          <a:ln/>
        </p:spPr>
      </p:sp>
      <p:sp>
        <p:nvSpPr>
          <p:cNvPr id="39" name="Shape 37"/>
          <p:cNvSpPr/>
          <p:nvPr/>
        </p:nvSpPr>
        <p:spPr>
          <a:xfrm>
            <a:off x="7196328" y="4160520"/>
            <a:ext cx="1600200" cy="36576"/>
          </a:xfrm>
          <a:prstGeom prst="rect">
            <a:avLst/>
          </a:prstGeom>
          <a:solidFill>
            <a:srgbClr val="6B6048"/>
          </a:solidFill>
          <a:ln/>
        </p:spPr>
      </p:sp>
      <p:sp>
        <p:nvSpPr>
          <p:cNvPr id="40" name="Text 38"/>
          <p:cNvSpPr/>
          <p:nvPr/>
        </p:nvSpPr>
        <p:spPr>
          <a:xfrm>
            <a:off x="7269480" y="4224528"/>
            <a:ext cx="1453896" cy="256032"/>
          </a:xfrm>
          <a:prstGeom prst="rect">
            <a:avLst/>
          </a:prstGeom>
          <a:noFill/>
          <a:ln/>
        </p:spPr>
        <p:txBody>
          <a:bodyPr wrap="square" rtlCol="0" anchor="ctr"/>
          <a:lstStyle/>
          <a:p>
            <a:pPr indent="0" marL="0">
              <a:buNone/>
            </a:pPr>
            <a:r>
              <a:rPr lang="en-US" sz="900" b="1" dirty="0">
                <a:solidFill>
                  <a:srgbClr val="E8E4D9"/>
                </a:solidFill>
                <a:latin typeface="Calibri" pitchFamily="34" charset="0"/>
                <a:ea typeface="Calibri" pitchFamily="34" charset="-122"/>
                <a:cs typeface="Calibri" pitchFamily="34" charset="-120"/>
              </a:rPr>
              <a:t>Événements &amp; Contenu</a:t>
            </a:r>
            <a:endParaRPr lang="en-US" sz="900" dirty="0"/>
          </a:p>
        </p:txBody>
      </p:sp>
      <p:sp>
        <p:nvSpPr>
          <p:cNvPr id="41" name="Text 39"/>
          <p:cNvSpPr/>
          <p:nvPr/>
        </p:nvSpPr>
        <p:spPr>
          <a:xfrm>
            <a:off x="7269480" y="4498848"/>
            <a:ext cx="1453896" cy="256032"/>
          </a:xfrm>
          <a:prstGeom prst="rect">
            <a:avLst/>
          </a:prstGeom>
          <a:noFill/>
          <a:ln/>
        </p:spPr>
        <p:txBody>
          <a:bodyPr wrap="square" rtlCol="0" anchor="ctr"/>
          <a:lstStyle/>
          <a:p>
            <a:pPr indent="0" marL="0">
              <a:buNone/>
            </a:pPr>
            <a:r>
              <a:rPr lang="en-US" sz="1100" b="1" dirty="0">
                <a:solidFill>
                  <a:srgbClr val="6B6048"/>
                </a:solidFill>
                <a:latin typeface="Calibri" pitchFamily="34" charset="0"/>
                <a:ea typeface="Calibri" pitchFamily="34" charset="-122"/>
                <a:cs typeface="Calibri" pitchFamily="34" charset="-120"/>
              </a:rPr>
              <a:t>5%</a:t>
            </a:r>
            <a:endParaRPr lang="en-US" sz="1100" dirty="0"/>
          </a:p>
        </p:txBody>
      </p:sp>
      <p:sp>
        <p:nvSpPr>
          <p:cNvPr id="42" name="Text 40"/>
          <p:cNvSpPr/>
          <p:nvPr/>
        </p:nvSpPr>
        <p:spPr>
          <a:xfrm>
            <a:off x="8732520" y="4800600"/>
            <a:ext cx="365760" cy="228600"/>
          </a:xfrm>
          <a:prstGeom prst="rect">
            <a:avLst/>
          </a:prstGeom>
          <a:noFill/>
          <a:ln/>
        </p:spPr>
        <p:txBody>
          <a:bodyPr wrap="square" rtlCol="0" anchor="ctr"/>
          <a:lstStyle/>
          <a:p>
            <a:pPr indent="0" marL="0">
              <a:buNone/>
            </a:pPr>
            <a:r>
              <a:rPr lang="en-US" sz="900" dirty="0">
                <a:solidFill>
                  <a:srgbClr val="6B6048"/>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A0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017"/>
          </a:solidFill>
          <a:ln/>
        </p:spPr>
      </p:sp>
      <p:sp>
        <p:nvSpPr>
          <p:cNvPr id="3" name="Shape 1"/>
          <p:cNvSpPr/>
          <p:nvPr/>
        </p:nvSpPr>
        <p:spPr>
          <a:xfrm>
            <a:off x="0" y="822960"/>
            <a:ext cx="9144000" cy="36576"/>
          </a:xfrm>
          <a:prstGeom prst="rect">
            <a:avLst/>
          </a:prstGeom>
          <a:solidFill>
            <a:srgbClr val="C9A84C"/>
          </a:solidFill>
          <a:ln/>
        </p:spPr>
      </p:sp>
      <p:sp>
        <p:nvSpPr>
          <p:cNvPr id="4" name="Text 2"/>
          <p:cNvSpPr/>
          <p:nvPr/>
        </p:nvSpPr>
        <p:spPr>
          <a:xfrm>
            <a:off x="411480" y="128016"/>
            <a:ext cx="8229600" cy="256032"/>
          </a:xfrm>
          <a:prstGeom prst="rect">
            <a:avLst/>
          </a:prstGeom>
          <a:noFill/>
          <a:ln/>
        </p:spPr>
        <p:txBody>
          <a:bodyPr wrap="square" rtlCol="0" anchor="ctr"/>
          <a:lstStyle/>
          <a:p>
            <a:pPr indent="0" marL="0">
              <a:buNone/>
            </a:pPr>
            <a:r>
              <a:rPr lang="en-US" sz="900" spc="400" kern="0" dirty="0">
                <a:solidFill>
                  <a:srgbClr val="8A6A20"/>
                </a:solidFill>
                <a:latin typeface="Calibri" pitchFamily="34" charset="0"/>
                <a:ea typeface="Calibri" pitchFamily="34" charset="-122"/>
                <a:cs typeface="Calibri" pitchFamily="34" charset="-120"/>
              </a:rPr>
              <a:t>PROJECTIONS FINANCIÈRES</a:t>
            </a:r>
            <a:endParaRPr lang="en-US" sz="900" dirty="0"/>
          </a:p>
        </p:txBody>
      </p:sp>
      <p:sp>
        <p:nvSpPr>
          <p:cNvPr id="5" name="Text 3"/>
          <p:cNvSpPr/>
          <p:nvPr/>
        </p:nvSpPr>
        <p:spPr>
          <a:xfrm>
            <a:off x="411480" y="402336"/>
            <a:ext cx="8229600" cy="347472"/>
          </a:xfrm>
          <a:prstGeom prst="rect">
            <a:avLst/>
          </a:prstGeom>
          <a:noFill/>
          <a:ln/>
        </p:spPr>
        <p:txBody>
          <a:bodyPr wrap="square" rtlCol="0" anchor="ctr"/>
          <a:lstStyle/>
          <a:p>
            <a:pPr indent="0" marL="0">
              <a:buNone/>
            </a:pPr>
            <a:r>
              <a:rPr lang="en-US" sz="2000" b="1" dirty="0">
                <a:solidFill>
                  <a:srgbClr val="E8E4D9"/>
                </a:solidFill>
                <a:latin typeface="Georgia" pitchFamily="34" charset="0"/>
                <a:ea typeface="Georgia" pitchFamily="34" charset="-122"/>
                <a:cs typeface="Georgia" pitchFamily="34" charset="-120"/>
              </a:rPr>
              <a:t>Rentabilité à 18 Mois — Investissement Initial Maîtrisé</a:t>
            </a:r>
            <a:endParaRPr lang="en-US" sz="2000" dirty="0"/>
          </a:p>
        </p:txBody>
      </p:sp>
      <p:sp>
        <p:nvSpPr>
          <p:cNvPr id="6" name="Shape 4"/>
          <p:cNvSpPr/>
          <p:nvPr/>
        </p:nvSpPr>
        <p:spPr>
          <a:xfrm>
            <a:off x="320040" y="960120"/>
            <a:ext cx="2651760" cy="1097280"/>
          </a:xfrm>
          <a:prstGeom prst="rect">
            <a:avLst/>
          </a:prstGeom>
          <a:solidFill>
            <a:srgbClr val="0D1017"/>
          </a:solidFill>
          <a:ln/>
        </p:spPr>
      </p:sp>
      <p:sp>
        <p:nvSpPr>
          <p:cNvPr id="7" name="Shape 5"/>
          <p:cNvSpPr/>
          <p:nvPr/>
        </p:nvSpPr>
        <p:spPr>
          <a:xfrm>
            <a:off x="320040" y="960120"/>
            <a:ext cx="36576" cy="1097280"/>
          </a:xfrm>
          <a:prstGeom prst="rect">
            <a:avLst/>
          </a:prstGeom>
          <a:solidFill>
            <a:srgbClr val="C9A84C"/>
          </a:solidFill>
          <a:ln/>
        </p:spPr>
      </p:sp>
      <p:sp>
        <p:nvSpPr>
          <p:cNvPr id="8" name="Text 6"/>
          <p:cNvSpPr/>
          <p:nvPr/>
        </p:nvSpPr>
        <p:spPr>
          <a:xfrm>
            <a:off x="448056" y="1024128"/>
            <a:ext cx="2423160" cy="502920"/>
          </a:xfrm>
          <a:prstGeom prst="rect">
            <a:avLst/>
          </a:prstGeom>
          <a:noFill/>
          <a:ln/>
        </p:spPr>
        <p:txBody>
          <a:bodyPr wrap="square" rtlCol="0" anchor="ctr"/>
          <a:lstStyle/>
          <a:p>
            <a:pPr indent="0" marL="0">
              <a:buNone/>
            </a:pPr>
            <a:r>
              <a:rPr lang="en-US" sz="2200" b="1" dirty="0">
                <a:solidFill>
                  <a:srgbClr val="C9A84C"/>
                </a:solidFill>
                <a:latin typeface="Georgia" pitchFamily="34" charset="0"/>
                <a:ea typeface="Georgia" pitchFamily="34" charset="-122"/>
                <a:cs typeface="Georgia" pitchFamily="34" charset="-120"/>
              </a:rPr>
              <a:t>330M XAF</a:t>
            </a:r>
            <a:endParaRPr lang="en-US" sz="2200" dirty="0"/>
          </a:p>
        </p:txBody>
      </p:sp>
      <p:sp>
        <p:nvSpPr>
          <p:cNvPr id="9" name="Text 7"/>
          <p:cNvSpPr/>
          <p:nvPr/>
        </p:nvSpPr>
        <p:spPr>
          <a:xfrm>
            <a:off x="448056" y="1527048"/>
            <a:ext cx="2423160" cy="256032"/>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Revenus An 1 (Proj.)</a:t>
            </a:r>
            <a:endParaRPr lang="en-US" sz="1050" dirty="0"/>
          </a:p>
        </p:txBody>
      </p:sp>
      <p:sp>
        <p:nvSpPr>
          <p:cNvPr id="10" name="Text 8"/>
          <p:cNvSpPr/>
          <p:nvPr/>
        </p:nvSpPr>
        <p:spPr>
          <a:xfrm>
            <a:off x="448056" y="1783080"/>
            <a:ext cx="2423160" cy="228600"/>
          </a:xfrm>
          <a:prstGeom prst="rect">
            <a:avLst/>
          </a:prstGeom>
          <a:noFill/>
          <a:ln/>
        </p:spPr>
        <p:txBody>
          <a:bodyPr wrap="square" rtlCol="0" anchor="ctr"/>
          <a:lstStyle/>
          <a:p>
            <a:pPr indent="0" marL="0">
              <a:buNone/>
            </a:pPr>
            <a:r>
              <a:rPr lang="en-US" sz="900" dirty="0">
                <a:solidFill>
                  <a:srgbClr val="6B6048"/>
                </a:solidFill>
                <a:latin typeface="Calibri" pitchFamily="34" charset="0"/>
                <a:ea typeface="Calibri" pitchFamily="34" charset="-122"/>
                <a:cs typeface="Calibri" pitchFamily="34" charset="-120"/>
              </a:rPr>
              <a:t>vs 58K abonnés × 400 FCFA actuel</a:t>
            </a:r>
            <a:endParaRPr lang="en-US" sz="900" dirty="0"/>
          </a:p>
        </p:txBody>
      </p:sp>
      <p:sp>
        <p:nvSpPr>
          <p:cNvPr id="11" name="Shape 9"/>
          <p:cNvSpPr/>
          <p:nvPr/>
        </p:nvSpPr>
        <p:spPr>
          <a:xfrm>
            <a:off x="3154680" y="960120"/>
            <a:ext cx="2651760" cy="1097280"/>
          </a:xfrm>
          <a:prstGeom prst="rect">
            <a:avLst/>
          </a:prstGeom>
          <a:solidFill>
            <a:srgbClr val="0D1017"/>
          </a:solidFill>
          <a:ln/>
        </p:spPr>
      </p:sp>
      <p:sp>
        <p:nvSpPr>
          <p:cNvPr id="12" name="Shape 10"/>
          <p:cNvSpPr/>
          <p:nvPr/>
        </p:nvSpPr>
        <p:spPr>
          <a:xfrm>
            <a:off x="3154680" y="960120"/>
            <a:ext cx="36576" cy="1097280"/>
          </a:xfrm>
          <a:prstGeom prst="rect">
            <a:avLst/>
          </a:prstGeom>
          <a:solidFill>
            <a:srgbClr val="C9A84C"/>
          </a:solidFill>
          <a:ln/>
        </p:spPr>
      </p:sp>
      <p:sp>
        <p:nvSpPr>
          <p:cNvPr id="13" name="Text 11"/>
          <p:cNvSpPr/>
          <p:nvPr/>
        </p:nvSpPr>
        <p:spPr>
          <a:xfrm>
            <a:off x="3282696" y="1024128"/>
            <a:ext cx="2423160" cy="502920"/>
          </a:xfrm>
          <a:prstGeom prst="rect">
            <a:avLst/>
          </a:prstGeom>
          <a:noFill/>
          <a:ln/>
        </p:spPr>
        <p:txBody>
          <a:bodyPr wrap="square" rtlCol="0" anchor="ctr"/>
          <a:lstStyle/>
          <a:p>
            <a:pPr indent="0" marL="0">
              <a:buNone/>
            </a:pPr>
            <a:r>
              <a:rPr lang="en-US" sz="2200" b="1" dirty="0">
                <a:solidFill>
                  <a:srgbClr val="C9A84C"/>
                </a:solidFill>
                <a:latin typeface="Georgia" pitchFamily="34" charset="0"/>
                <a:ea typeface="Georgia" pitchFamily="34" charset="-122"/>
                <a:cs typeface="Georgia" pitchFamily="34" charset="-120"/>
              </a:rPr>
              <a:t>1.825Mds</a:t>
            </a:r>
            <a:endParaRPr lang="en-US" sz="2200" dirty="0"/>
          </a:p>
        </p:txBody>
      </p:sp>
      <p:sp>
        <p:nvSpPr>
          <p:cNvPr id="14" name="Text 12"/>
          <p:cNvSpPr/>
          <p:nvPr/>
        </p:nvSpPr>
        <p:spPr>
          <a:xfrm>
            <a:off x="3282696" y="1527048"/>
            <a:ext cx="2423160" cy="256032"/>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Revenus An 3 (Proj.)</a:t>
            </a:r>
            <a:endParaRPr lang="en-US" sz="1050" dirty="0"/>
          </a:p>
        </p:txBody>
      </p:sp>
      <p:sp>
        <p:nvSpPr>
          <p:cNvPr id="15" name="Text 13"/>
          <p:cNvSpPr/>
          <p:nvPr/>
        </p:nvSpPr>
        <p:spPr>
          <a:xfrm>
            <a:off x="3282696" y="1783080"/>
            <a:ext cx="2423160" cy="228600"/>
          </a:xfrm>
          <a:prstGeom prst="rect">
            <a:avLst/>
          </a:prstGeom>
          <a:noFill/>
          <a:ln/>
        </p:spPr>
        <p:txBody>
          <a:bodyPr wrap="square" rtlCol="0" anchor="ctr"/>
          <a:lstStyle/>
          <a:p>
            <a:pPr indent="0" marL="0">
              <a:buNone/>
            </a:pPr>
            <a:r>
              <a:rPr lang="en-US" sz="900" dirty="0">
                <a:solidFill>
                  <a:srgbClr val="6B6048"/>
                </a:solidFill>
                <a:latin typeface="Calibri" pitchFamily="34" charset="0"/>
                <a:ea typeface="Calibri" pitchFamily="34" charset="-122"/>
                <a:cs typeface="Calibri" pitchFamily="34" charset="-120"/>
              </a:rPr>
              <a:t>Marge EBITDA 46% — sans prise de risque capital</a:t>
            </a:r>
            <a:endParaRPr lang="en-US" sz="900" dirty="0"/>
          </a:p>
        </p:txBody>
      </p:sp>
      <p:sp>
        <p:nvSpPr>
          <p:cNvPr id="16" name="Shape 14"/>
          <p:cNvSpPr/>
          <p:nvPr/>
        </p:nvSpPr>
        <p:spPr>
          <a:xfrm>
            <a:off x="5989320" y="960120"/>
            <a:ext cx="2651760" cy="1097280"/>
          </a:xfrm>
          <a:prstGeom prst="rect">
            <a:avLst/>
          </a:prstGeom>
          <a:solidFill>
            <a:srgbClr val="0D1017"/>
          </a:solidFill>
          <a:ln/>
        </p:spPr>
      </p:sp>
      <p:sp>
        <p:nvSpPr>
          <p:cNvPr id="17" name="Shape 15"/>
          <p:cNvSpPr/>
          <p:nvPr/>
        </p:nvSpPr>
        <p:spPr>
          <a:xfrm>
            <a:off x="5989320" y="960120"/>
            <a:ext cx="36576" cy="1097280"/>
          </a:xfrm>
          <a:prstGeom prst="rect">
            <a:avLst/>
          </a:prstGeom>
          <a:solidFill>
            <a:srgbClr val="C9A84C"/>
          </a:solidFill>
          <a:ln/>
        </p:spPr>
      </p:sp>
      <p:sp>
        <p:nvSpPr>
          <p:cNvPr id="18" name="Text 16"/>
          <p:cNvSpPr/>
          <p:nvPr/>
        </p:nvSpPr>
        <p:spPr>
          <a:xfrm>
            <a:off x="6117336" y="1024128"/>
            <a:ext cx="2423160" cy="502920"/>
          </a:xfrm>
          <a:prstGeom prst="rect">
            <a:avLst/>
          </a:prstGeom>
          <a:noFill/>
          <a:ln/>
        </p:spPr>
        <p:txBody>
          <a:bodyPr wrap="square" rtlCol="0" anchor="ctr"/>
          <a:lstStyle/>
          <a:p>
            <a:pPr indent="0" marL="0">
              <a:buNone/>
            </a:pPr>
            <a:r>
              <a:rPr lang="en-US" sz="2200" b="1" dirty="0">
                <a:solidFill>
                  <a:srgbClr val="C9A84C"/>
                </a:solidFill>
                <a:latin typeface="Georgia" pitchFamily="34" charset="0"/>
                <a:ea typeface="Georgia" pitchFamily="34" charset="-122"/>
                <a:cs typeface="Georgia" pitchFamily="34" charset="-120"/>
              </a:rPr>
              <a:t>250 000</a:t>
            </a:r>
            <a:endParaRPr lang="en-US" sz="2200" dirty="0"/>
          </a:p>
        </p:txBody>
      </p:sp>
      <p:sp>
        <p:nvSpPr>
          <p:cNvPr id="19" name="Text 17"/>
          <p:cNvSpPr/>
          <p:nvPr/>
        </p:nvSpPr>
        <p:spPr>
          <a:xfrm>
            <a:off x="6117336" y="1527048"/>
            <a:ext cx="2423160" cy="256032"/>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Utilisateurs Mois (An 3)</a:t>
            </a:r>
            <a:endParaRPr lang="en-US" sz="1050" dirty="0"/>
          </a:p>
        </p:txBody>
      </p:sp>
      <p:sp>
        <p:nvSpPr>
          <p:cNvPr id="20" name="Text 18"/>
          <p:cNvSpPr/>
          <p:nvPr/>
        </p:nvSpPr>
        <p:spPr>
          <a:xfrm>
            <a:off x="6117336" y="1783080"/>
            <a:ext cx="2423160" cy="228600"/>
          </a:xfrm>
          <a:prstGeom prst="rect">
            <a:avLst/>
          </a:prstGeom>
          <a:noFill/>
          <a:ln/>
        </p:spPr>
        <p:txBody>
          <a:bodyPr wrap="square" rtlCol="0" anchor="ctr"/>
          <a:lstStyle/>
          <a:p>
            <a:pPr indent="0" marL="0">
              <a:buNone/>
            </a:pPr>
            <a:r>
              <a:rPr lang="en-US" sz="900" dirty="0">
                <a:solidFill>
                  <a:srgbClr val="6B6048"/>
                </a:solidFill>
                <a:latin typeface="Calibri" pitchFamily="34" charset="0"/>
                <a:ea typeface="Calibri" pitchFamily="34" charset="-122"/>
                <a:cs typeface="Calibri" pitchFamily="34" charset="-120"/>
              </a:rPr>
              <a:t>vs journal papier actuel — audience ×4</a:t>
            </a:r>
            <a:endParaRPr lang="en-US" sz="900" dirty="0"/>
          </a:p>
        </p:txBody>
      </p:sp>
      <p:sp>
        <p:nvSpPr>
          <p:cNvPr id="21" name="Shape 19"/>
          <p:cNvSpPr/>
          <p:nvPr/>
        </p:nvSpPr>
        <p:spPr>
          <a:xfrm>
            <a:off x="320040" y="2176272"/>
            <a:ext cx="8503920" cy="347472"/>
          </a:xfrm>
          <a:prstGeom prst="rect">
            <a:avLst/>
          </a:prstGeom>
          <a:solidFill>
            <a:srgbClr val="0D1017"/>
          </a:solidFill>
          <a:ln/>
        </p:spPr>
      </p:sp>
      <p:sp>
        <p:nvSpPr>
          <p:cNvPr id="22" name="Text 20"/>
          <p:cNvSpPr/>
          <p:nvPr/>
        </p:nvSpPr>
        <p:spPr>
          <a:xfrm>
            <a:off x="457200" y="2231136"/>
            <a:ext cx="1371600" cy="237744"/>
          </a:xfrm>
          <a:prstGeom prst="rect">
            <a:avLst/>
          </a:prstGeom>
          <a:noFill/>
          <a:ln/>
        </p:spPr>
        <p:txBody>
          <a:bodyPr wrap="square" rtlCol="0" anchor="ctr"/>
          <a:lstStyle/>
          <a:p>
            <a:pPr indent="0" marL="0">
              <a:buNone/>
            </a:pPr>
            <a:r>
              <a:rPr lang="en-US" sz="900" b="1" spc="100" kern="0" dirty="0">
                <a:solidFill>
                  <a:srgbClr val="8A6A20"/>
                </a:solidFill>
                <a:latin typeface="Calibri" pitchFamily="34" charset="0"/>
                <a:ea typeface="Calibri" pitchFamily="34" charset="-122"/>
                <a:cs typeface="Calibri" pitchFamily="34" charset="-120"/>
              </a:rPr>
              <a:t>Indicateur</a:t>
            </a:r>
            <a:endParaRPr lang="en-US" sz="900" dirty="0"/>
          </a:p>
        </p:txBody>
      </p:sp>
      <p:sp>
        <p:nvSpPr>
          <p:cNvPr id="23" name="Text 21"/>
          <p:cNvSpPr/>
          <p:nvPr/>
        </p:nvSpPr>
        <p:spPr>
          <a:xfrm>
            <a:off x="5212080" y="2231136"/>
            <a:ext cx="1371600" cy="237744"/>
          </a:xfrm>
          <a:prstGeom prst="rect">
            <a:avLst/>
          </a:prstGeom>
          <a:noFill/>
          <a:ln/>
        </p:spPr>
        <p:txBody>
          <a:bodyPr wrap="square" rtlCol="0" anchor="ctr"/>
          <a:lstStyle/>
          <a:p>
            <a:pPr indent="0" marL="0">
              <a:buNone/>
            </a:pPr>
            <a:r>
              <a:rPr lang="en-US" sz="900" b="1" spc="100" kern="0" dirty="0">
                <a:solidFill>
                  <a:srgbClr val="8A6A20"/>
                </a:solidFill>
                <a:latin typeface="Calibri" pitchFamily="34" charset="0"/>
                <a:ea typeface="Calibri" pitchFamily="34" charset="-122"/>
                <a:cs typeface="Calibri" pitchFamily="34" charset="-120"/>
              </a:rPr>
              <a:t>An 1</a:t>
            </a:r>
            <a:endParaRPr lang="en-US" sz="900" dirty="0"/>
          </a:p>
        </p:txBody>
      </p:sp>
      <p:sp>
        <p:nvSpPr>
          <p:cNvPr id="24" name="Text 22"/>
          <p:cNvSpPr/>
          <p:nvPr/>
        </p:nvSpPr>
        <p:spPr>
          <a:xfrm>
            <a:off x="6675120" y="2231136"/>
            <a:ext cx="1371600" cy="237744"/>
          </a:xfrm>
          <a:prstGeom prst="rect">
            <a:avLst/>
          </a:prstGeom>
          <a:noFill/>
          <a:ln/>
        </p:spPr>
        <p:txBody>
          <a:bodyPr wrap="square" rtlCol="0" anchor="ctr"/>
          <a:lstStyle/>
          <a:p>
            <a:pPr indent="0" marL="0">
              <a:buNone/>
            </a:pPr>
            <a:r>
              <a:rPr lang="en-US" sz="900" b="1" spc="100" kern="0" dirty="0">
                <a:solidFill>
                  <a:srgbClr val="8A6A20"/>
                </a:solidFill>
                <a:latin typeface="Calibri" pitchFamily="34" charset="0"/>
                <a:ea typeface="Calibri" pitchFamily="34" charset="-122"/>
                <a:cs typeface="Calibri" pitchFamily="34" charset="-120"/>
              </a:rPr>
              <a:t>An 2</a:t>
            </a:r>
            <a:endParaRPr lang="en-US" sz="900" dirty="0"/>
          </a:p>
        </p:txBody>
      </p:sp>
      <p:sp>
        <p:nvSpPr>
          <p:cNvPr id="25" name="Text 23"/>
          <p:cNvSpPr/>
          <p:nvPr/>
        </p:nvSpPr>
        <p:spPr>
          <a:xfrm>
            <a:off x="8138160" y="2231136"/>
            <a:ext cx="1371600" cy="237744"/>
          </a:xfrm>
          <a:prstGeom prst="rect">
            <a:avLst/>
          </a:prstGeom>
          <a:noFill/>
          <a:ln/>
        </p:spPr>
        <p:txBody>
          <a:bodyPr wrap="square" rtlCol="0" anchor="ctr"/>
          <a:lstStyle/>
          <a:p>
            <a:pPr indent="0" marL="0">
              <a:buNone/>
            </a:pPr>
            <a:r>
              <a:rPr lang="en-US" sz="900" b="1" spc="100" kern="0" dirty="0">
                <a:solidFill>
                  <a:srgbClr val="8A6A20"/>
                </a:solidFill>
                <a:latin typeface="Calibri" pitchFamily="34" charset="0"/>
                <a:ea typeface="Calibri" pitchFamily="34" charset="-122"/>
                <a:cs typeface="Calibri" pitchFamily="34" charset="-120"/>
              </a:rPr>
              <a:t>An 3</a:t>
            </a:r>
            <a:endParaRPr lang="en-US" sz="900" dirty="0"/>
          </a:p>
        </p:txBody>
      </p:sp>
      <p:sp>
        <p:nvSpPr>
          <p:cNvPr id="26" name="Shape 24"/>
          <p:cNvSpPr/>
          <p:nvPr/>
        </p:nvSpPr>
        <p:spPr>
          <a:xfrm>
            <a:off x="320040" y="2560320"/>
            <a:ext cx="8503920" cy="329184"/>
          </a:xfrm>
          <a:prstGeom prst="rect">
            <a:avLst/>
          </a:prstGeom>
          <a:solidFill>
            <a:srgbClr val="080A0E"/>
          </a:solidFill>
          <a:ln/>
        </p:spPr>
      </p:sp>
      <p:sp>
        <p:nvSpPr>
          <p:cNvPr id="27" name="Text 25"/>
          <p:cNvSpPr/>
          <p:nvPr/>
        </p:nvSpPr>
        <p:spPr>
          <a:xfrm>
            <a:off x="457200" y="2615184"/>
            <a:ext cx="4572000" cy="237744"/>
          </a:xfrm>
          <a:prstGeom prst="rect">
            <a:avLst/>
          </a:prstGeom>
          <a:noFill/>
          <a:ln/>
        </p:spPr>
        <p:txBody>
          <a:bodyPr wrap="square" rtlCol="0" anchor="ctr"/>
          <a:lstStyle/>
          <a:p>
            <a:pPr indent="0" marL="0">
              <a:buNone/>
            </a:pPr>
            <a:r>
              <a:rPr lang="en-US" sz="1050" dirty="0">
                <a:solidFill>
                  <a:srgbClr val="A89F8A"/>
                </a:solidFill>
                <a:latin typeface="Calibri" pitchFamily="34" charset="0"/>
                <a:ea typeface="Calibri" pitchFamily="34" charset="-122"/>
                <a:cs typeface="Calibri" pitchFamily="34" charset="-120"/>
              </a:rPr>
              <a:t>Revenus Totaux</a:t>
            </a:r>
            <a:endParaRPr lang="en-US" sz="1050" dirty="0"/>
          </a:p>
        </p:txBody>
      </p:sp>
      <p:sp>
        <p:nvSpPr>
          <p:cNvPr id="28" name="Text 26"/>
          <p:cNvSpPr/>
          <p:nvPr/>
        </p:nvSpPr>
        <p:spPr>
          <a:xfrm>
            <a:off x="5212080" y="2615184"/>
            <a:ext cx="1280160" cy="237744"/>
          </a:xfrm>
          <a:prstGeom prst="rect">
            <a:avLst/>
          </a:prstGeom>
          <a:noFill/>
          <a:ln/>
        </p:spPr>
        <p:txBody>
          <a:bodyPr wrap="square" rtlCol="0" anchor="ctr"/>
          <a:lstStyle/>
          <a:p>
            <a:pPr indent="0" marL="0">
              <a:buNone/>
            </a:pPr>
            <a:r>
              <a:rPr lang="en-US" sz="1050" dirty="0">
                <a:solidFill>
                  <a:srgbClr val="E8E4D9"/>
                </a:solidFill>
                <a:latin typeface="Calibri" pitchFamily="34" charset="0"/>
                <a:ea typeface="Calibri" pitchFamily="34" charset="-122"/>
                <a:cs typeface="Calibri" pitchFamily="34" charset="-120"/>
              </a:rPr>
              <a:t>330M XAF</a:t>
            </a:r>
            <a:endParaRPr lang="en-US" sz="1050" dirty="0"/>
          </a:p>
        </p:txBody>
      </p:sp>
      <p:sp>
        <p:nvSpPr>
          <p:cNvPr id="29" name="Text 27"/>
          <p:cNvSpPr/>
          <p:nvPr/>
        </p:nvSpPr>
        <p:spPr>
          <a:xfrm>
            <a:off x="6675120" y="2615184"/>
            <a:ext cx="1280160" cy="237744"/>
          </a:xfrm>
          <a:prstGeom prst="rect">
            <a:avLst/>
          </a:prstGeom>
          <a:noFill/>
          <a:ln/>
        </p:spPr>
        <p:txBody>
          <a:bodyPr wrap="square" rtlCol="0" anchor="ctr"/>
          <a:lstStyle/>
          <a:p>
            <a:pPr indent="0" marL="0">
              <a:buNone/>
            </a:pPr>
            <a:r>
              <a:rPr lang="en-US" sz="1050" dirty="0">
                <a:solidFill>
                  <a:srgbClr val="E8E4D9"/>
                </a:solidFill>
                <a:latin typeface="Calibri" pitchFamily="34" charset="0"/>
                <a:ea typeface="Calibri" pitchFamily="34" charset="-122"/>
                <a:cs typeface="Calibri" pitchFamily="34" charset="-120"/>
              </a:rPr>
              <a:t>820M XAF</a:t>
            </a:r>
            <a:endParaRPr lang="en-US" sz="1050" dirty="0"/>
          </a:p>
        </p:txBody>
      </p:sp>
      <p:sp>
        <p:nvSpPr>
          <p:cNvPr id="30" name="Text 28"/>
          <p:cNvSpPr/>
          <p:nvPr/>
        </p:nvSpPr>
        <p:spPr>
          <a:xfrm>
            <a:off x="8138160" y="2615184"/>
            <a:ext cx="1280160" cy="237744"/>
          </a:xfrm>
          <a:prstGeom prst="rect">
            <a:avLst/>
          </a:prstGeom>
          <a:noFill/>
          <a:ln/>
        </p:spPr>
        <p:txBody>
          <a:bodyPr wrap="square" rtlCol="0" anchor="ctr"/>
          <a:lstStyle/>
          <a:p>
            <a:pPr indent="0" marL="0">
              <a:buNone/>
            </a:pPr>
            <a:r>
              <a:rPr lang="en-US" sz="1050" dirty="0">
                <a:solidFill>
                  <a:srgbClr val="E8E4D9"/>
                </a:solidFill>
                <a:latin typeface="Calibri" pitchFamily="34" charset="0"/>
                <a:ea typeface="Calibri" pitchFamily="34" charset="-122"/>
                <a:cs typeface="Calibri" pitchFamily="34" charset="-120"/>
              </a:rPr>
              <a:t>1.825Mds XAF</a:t>
            </a:r>
            <a:endParaRPr lang="en-US" sz="1050" dirty="0"/>
          </a:p>
        </p:txBody>
      </p:sp>
      <p:sp>
        <p:nvSpPr>
          <p:cNvPr id="31" name="Shape 29"/>
          <p:cNvSpPr/>
          <p:nvPr/>
        </p:nvSpPr>
        <p:spPr>
          <a:xfrm>
            <a:off x="320040" y="2907792"/>
            <a:ext cx="8503920" cy="329184"/>
          </a:xfrm>
          <a:prstGeom prst="rect">
            <a:avLst/>
          </a:prstGeom>
          <a:solidFill>
            <a:srgbClr val="0D1017"/>
          </a:solidFill>
          <a:ln/>
        </p:spPr>
      </p:sp>
      <p:sp>
        <p:nvSpPr>
          <p:cNvPr id="32" name="Text 30"/>
          <p:cNvSpPr/>
          <p:nvPr/>
        </p:nvSpPr>
        <p:spPr>
          <a:xfrm>
            <a:off x="457200" y="2962656"/>
            <a:ext cx="4572000" cy="237744"/>
          </a:xfrm>
          <a:prstGeom prst="rect">
            <a:avLst/>
          </a:prstGeom>
          <a:noFill/>
          <a:ln/>
        </p:spPr>
        <p:txBody>
          <a:bodyPr wrap="square" rtlCol="0" anchor="ctr"/>
          <a:lstStyle/>
          <a:p>
            <a:pPr indent="0" marL="0">
              <a:buNone/>
            </a:pPr>
            <a:r>
              <a:rPr lang="en-US" sz="1050" dirty="0">
                <a:solidFill>
                  <a:srgbClr val="A89F8A"/>
                </a:solidFill>
                <a:latin typeface="Calibri" pitchFamily="34" charset="0"/>
                <a:ea typeface="Calibri" pitchFamily="34" charset="-122"/>
                <a:cs typeface="Calibri" pitchFamily="34" charset="-120"/>
              </a:rPr>
              <a:t>Charges Opérationnelles</a:t>
            </a:r>
            <a:endParaRPr lang="en-US" sz="1050" dirty="0"/>
          </a:p>
        </p:txBody>
      </p:sp>
      <p:sp>
        <p:nvSpPr>
          <p:cNvPr id="33" name="Text 31"/>
          <p:cNvSpPr/>
          <p:nvPr/>
        </p:nvSpPr>
        <p:spPr>
          <a:xfrm>
            <a:off x="5212080" y="2962656"/>
            <a:ext cx="1280160" cy="237744"/>
          </a:xfrm>
          <a:prstGeom prst="rect">
            <a:avLst/>
          </a:prstGeom>
          <a:noFill/>
          <a:ln/>
        </p:spPr>
        <p:txBody>
          <a:bodyPr wrap="square" rtlCol="0" anchor="ctr"/>
          <a:lstStyle/>
          <a:p>
            <a:pPr indent="0" marL="0">
              <a:buNone/>
            </a:pPr>
            <a:r>
              <a:rPr lang="en-US" sz="1050" dirty="0">
                <a:solidFill>
                  <a:srgbClr val="E8E4D9"/>
                </a:solidFill>
                <a:latin typeface="Calibri" pitchFamily="34" charset="0"/>
                <a:ea typeface="Calibri" pitchFamily="34" charset="-122"/>
                <a:cs typeface="Calibri" pitchFamily="34" charset="-120"/>
              </a:rPr>
              <a:t>280M XAF</a:t>
            </a:r>
            <a:endParaRPr lang="en-US" sz="1050" dirty="0"/>
          </a:p>
        </p:txBody>
      </p:sp>
      <p:sp>
        <p:nvSpPr>
          <p:cNvPr id="34" name="Text 32"/>
          <p:cNvSpPr/>
          <p:nvPr/>
        </p:nvSpPr>
        <p:spPr>
          <a:xfrm>
            <a:off x="6675120" y="2962656"/>
            <a:ext cx="1280160" cy="237744"/>
          </a:xfrm>
          <a:prstGeom prst="rect">
            <a:avLst/>
          </a:prstGeom>
          <a:noFill/>
          <a:ln/>
        </p:spPr>
        <p:txBody>
          <a:bodyPr wrap="square" rtlCol="0" anchor="ctr"/>
          <a:lstStyle/>
          <a:p>
            <a:pPr indent="0" marL="0">
              <a:buNone/>
            </a:pPr>
            <a:r>
              <a:rPr lang="en-US" sz="1050" dirty="0">
                <a:solidFill>
                  <a:srgbClr val="E8E4D9"/>
                </a:solidFill>
                <a:latin typeface="Calibri" pitchFamily="34" charset="0"/>
                <a:ea typeface="Calibri" pitchFamily="34" charset="-122"/>
                <a:cs typeface="Calibri" pitchFamily="34" charset="-120"/>
              </a:rPr>
              <a:t>540M XAF</a:t>
            </a:r>
            <a:endParaRPr lang="en-US" sz="1050" dirty="0"/>
          </a:p>
        </p:txBody>
      </p:sp>
      <p:sp>
        <p:nvSpPr>
          <p:cNvPr id="35" name="Text 33"/>
          <p:cNvSpPr/>
          <p:nvPr/>
        </p:nvSpPr>
        <p:spPr>
          <a:xfrm>
            <a:off x="8138160" y="2962656"/>
            <a:ext cx="1280160" cy="237744"/>
          </a:xfrm>
          <a:prstGeom prst="rect">
            <a:avLst/>
          </a:prstGeom>
          <a:noFill/>
          <a:ln/>
        </p:spPr>
        <p:txBody>
          <a:bodyPr wrap="square" rtlCol="0" anchor="ctr"/>
          <a:lstStyle/>
          <a:p>
            <a:pPr indent="0" marL="0">
              <a:buNone/>
            </a:pPr>
            <a:r>
              <a:rPr lang="en-US" sz="1050" dirty="0">
                <a:solidFill>
                  <a:srgbClr val="E8E4D9"/>
                </a:solidFill>
                <a:latin typeface="Calibri" pitchFamily="34" charset="0"/>
                <a:ea typeface="Calibri" pitchFamily="34" charset="-122"/>
                <a:cs typeface="Calibri" pitchFamily="34" charset="-120"/>
              </a:rPr>
              <a:t>980M XAF</a:t>
            </a:r>
            <a:endParaRPr lang="en-US" sz="1050" dirty="0"/>
          </a:p>
        </p:txBody>
      </p:sp>
      <p:sp>
        <p:nvSpPr>
          <p:cNvPr id="36" name="Shape 34"/>
          <p:cNvSpPr/>
          <p:nvPr/>
        </p:nvSpPr>
        <p:spPr>
          <a:xfrm>
            <a:off x="320040" y="3255264"/>
            <a:ext cx="8503920" cy="329184"/>
          </a:xfrm>
          <a:prstGeom prst="rect">
            <a:avLst/>
          </a:prstGeom>
          <a:solidFill>
            <a:srgbClr val="080A0E"/>
          </a:solidFill>
          <a:ln/>
        </p:spPr>
      </p:sp>
      <p:sp>
        <p:nvSpPr>
          <p:cNvPr id="37" name="Text 35"/>
          <p:cNvSpPr/>
          <p:nvPr/>
        </p:nvSpPr>
        <p:spPr>
          <a:xfrm>
            <a:off x="457200" y="3310128"/>
            <a:ext cx="4572000" cy="237744"/>
          </a:xfrm>
          <a:prstGeom prst="rect">
            <a:avLst/>
          </a:prstGeom>
          <a:noFill/>
          <a:ln/>
        </p:spPr>
        <p:txBody>
          <a:bodyPr wrap="square" rtlCol="0" anchor="ctr"/>
          <a:lstStyle/>
          <a:p>
            <a:pPr indent="0" marL="0">
              <a:buNone/>
            </a:pPr>
            <a:r>
              <a:rPr lang="en-US" sz="1050" b="1" dirty="0">
                <a:solidFill>
                  <a:srgbClr val="A89F8A"/>
                </a:solidFill>
                <a:latin typeface="Calibri" pitchFamily="34" charset="0"/>
                <a:ea typeface="Calibri" pitchFamily="34" charset="-122"/>
                <a:cs typeface="Calibri" pitchFamily="34" charset="-120"/>
              </a:rPr>
              <a:t>EBITDA</a:t>
            </a:r>
            <a:endParaRPr lang="en-US" sz="1050" dirty="0"/>
          </a:p>
        </p:txBody>
      </p:sp>
      <p:sp>
        <p:nvSpPr>
          <p:cNvPr id="38" name="Text 36"/>
          <p:cNvSpPr/>
          <p:nvPr/>
        </p:nvSpPr>
        <p:spPr>
          <a:xfrm>
            <a:off x="5212080" y="3310128"/>
            <a:ext cx="1280160" cy="237744"/>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50M XAF</a:t>
            </a:r>
            <a:endParaRPr lang="en-US" sz="1050" dirty="0"/>
          </a:p>
        </p:txBody>
      </p:sp>
      <p:sp>
        <p:nvSpPr>
          <p:cNvPr id="39" name="Text 37"/>
          <p:cNvSpPr/>
          <p:nvPr/>
        </p:nvSpPr>
        <p:spPr>
          <a:xfrm>
            <a:off x="6675120" y="3310128"/>
            <a:ext cx="1280160" cy="237744"/>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280M XAF</a:t>
            </a:r>
            <a:endParaRPr lang="en-US" sz="1050" dirty="0"/>
          </a:p>
        </p:txBody>
      </p:sp>
      <p:sp>
        <p:nvSpPr>
          <p:cNvPr id="40" name="Text 38"/>
          <p:cNvSpPr/>
          <p:nvPr/>
        </p:nvSpPr>
        <p:spPr>
          <a:xfrm>
            <a:off x="8138160" y="3310128"/>
            <a:ext cx="1280160" cy="237744"/>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845M XAF</a:t>
            </a:r>
            <a:endParaRPr lang="en-US" sz="1050" dirty="0"/>
          </a:p>
        </p:txBody>
      </p:sp>
      <p:sp>
        <p:nvSpPr>
          <p:cNvPr id="41" name="Shape 39"/>
          <p:cNvSpPr/>
          <p:nvPr/>
        </p:nvSpPr>
        <p:spPr>
          <a:xfrm>
            <a:off x="320040" y="3602736"/>
            <a:ext cx="8503920" cy="329184"/>
          </a:xfrm>
          <a:prstGeom prst="rect">
            <a:avLst/>
          </a:prstGeom>
          <a:solidFill>
            <a:srgbClr val="0D1017"/>
          </a:solidFill>
          <a:ln/>
        </p:spPr>
      </p:sp>
      <p:sp>
        <p:nvSpPr>
          <p:cNvPr id="42" name="Text 40"/>
          <p:cNvSpPr/>
          <p:nvPr/>
        </p:nvSpPr>
        <p:spPr>
          <a:xfrm>
            <a:off x="457200" y="3657600"/>
            <a:ext cx="4572000" cy="237744"/>
          </a:xfrm>
          <a:prstGeom prst="rect">
            <a:avLst/>
          </a:prstGeom>
          <a:noFill/>
          <a:ln/>
        </p:spPr>
        <p:txBody>
          <a:bodyPr wrap="square" rtlCol="0" anchor="ctr"/>
          <a:lstStyle/>
          <a:p>
            <a:pPr indent="0" marL="0">
              <a:buNone/>
            </a:pPr>
            <a:r>
              <a:rPr lang="en-US" sz="1050" b="1" dirty="0">
                <a:solidFill>
                  <a:srgbClr val="A89F8A"/>
                </a:solidFill>
                <a:latin typeface="Calibri" pitchFamily="34" charset="0"/>
                <a:ea typeface="Calibri" pitchFamily="34" charset="-122"/>
                <a:cs typeface="Calibri" pitchFamily="34" charset="-120"/>
              </a:rPr>
              <a:t>Marge EBITDA</a:t>
            </a:r>
            <a:endParaRPr lang="en-US" sz="1050" dirty="0"/>
          </a:p>
        </p:txBody>
      </p:sp>
      <p:sp>
        <p:nvSpPr>
          <p:cNvPr id="43" name="Text 41"/>
          <p:cNvSpPr/>
          <p:nvPr/>
        </p:nvSpPr>
        <p:spPr>
          <a:xfrm>
            <a:off x="5212080" y="3657600"/>
            <a:ext cx="1280160" cy="237744"/>
          </a:xfrm>
          <a:prstGeom prst="rect">
            <a:avLst/>
          </a:prstGeom>
          <a:noFill/>
          <a:ln/>
        </p:spPr>
        <p:txBody>
          <a:bodyPr wrap="square" rtlCol="0" anchor="ctr"/>
          <a:lstStyle/>
          <a:p>
            <a:pPr indent="0" marL="0">
              <a:buNone/>
            </a:pPr>
            <a:r>
              <a:rPr lang="en-US" sz="1050" b="1" dirty="0">
                <a:solidFill>
                  <a:srgbClr val="C9A84C"/>
                </a:solidFill>
                <a:latin typeface="Calibri" pitchFamily="34" charset="0"/>
                <a:ea typeface="Calibri" pitchFamily="34" charset="-122"/>
                <a:cs typeface="Calibri" pitchFamily="34" charset="-120"/>
              </a:rPr>
              <a:t>15%</a:t>
            </a:r>
            <a:endParaRPr lang="en-US" sz="1050" dirty="0"/>
          </a:p>
        </p:txBody>
      </p:sp>
      <p:sp>
        <p:nvSpPr>
          <p:cNvPr id="44" name="Text 42"/>
          <p:cNvSpPr/>
          <p:nvPr/>
        </p:nvSpPr>
        <p:spPr>
          <a:xfrm>
            <a:off x="6675120" y="3657600"/>
            <a:ext cx="1280160" cy="237744"/>
          </a:xfrm>
          <a:prstGeom prst="rect">
            <a:avLst/>
          </a:prstGeom>
          <a:noFill/>
          <a:ln/>
        </p:spPr>
        <p:txBody>
          <a:bodyPr wrap="square" rtlCol="0" anchor="ctr"/>
          <a:lstStyle/>
          <a:p>
            <a:pPr indent="0" marL="0">
              <a:buNone/>
            </a:pPr>
            <a:r>
              <a:rPr lang="en-US" sz="1050" b="1" dirty="0">
                <a:solidFill>
                  <a:srgbClr val="C9A84C"/>
                </a:solidFill>
                <a:latin typeface="Calibri" pitchFamily="34" charset="0"/>
                <a:ea typeface="Calibri" pitchFamily="34" charset="-122"/>
                <a:cs typeface="Calibri" pitchFamily="34" charset="-120"/>
              </a:rPr>
              <a:t>34%</a:t>
            </a:r>
            <a:endParaRPr lang="en-US" sz="1050" dirty="0"/>
          </a:p>
        </p:txBody>
      </p:sp>
      <p:sp>
        <p:nvSpPr>
          <p:cNvPr id="45" name="Text 43"/>
          <p:cNvSpPr/>
          <p:nvPr/>
        </p:nvSpPr>
        <p:spPr>
          <a:xfrm>
            <a:off x="8138160" y="3657600"/>
            <a:ext cx="1280160" cy="237744"/>
          </a:xfrm>
          <a:prstGeom prst="rect">
            <a:avLst/>
          </a:prstGeom>
          <a:noFill/>
          <a:ln/>
        </p:spPr>
        <p:txBody>
          <a:bodyPr wrap="square" rtlCol="0" anchor="ctr"/>
          <a:lstStyle/>
          <a:p>
            <a:pPr indent="0" marL="0">
              <a:buNone/>
            </a:pPr>
            <a:r>
              <a:rPr lang="en-US" sz="1050" b="1" dirty="0">
                <a:solidFill>
                  <a:srgbClr val="C9A84C"/>
                </a:solidFill>
                <a:latin typeface="Calibri" pitchFamily="34" charset="0"/>
                <a:ea typeface="Calibri" pitchFamily="34" charset="-122"/>
                <a:cs typeface="Calibri" pitchFamily="34" charset="-120"/>
              </a:rPr>
              <a:t>46%</a:t>
            </a:r>
            <a:endParaRPr lang="en-US" sz="1050" dirty="0"/>
          </a:p>
        </p:txBody>
      </p:sp>
      <p:sp>
        <p:nvSpPr>
          <p:cNvPr id="46" name="Shape 44"/>
          <p:cNvSpPr/>
          <p:nvPr/>
        </p:nvSpPr>
        <p:spPr>
          <a:xfrm>
            <a:off x="320040" y="3950208"/>
            <a:ext cx="8503920" cy="329184"/>
          </a:xfrm>
          <a:prstGeom prst="rect">
            <a:avLst/>
          </a:prstGeom>
          <a:solidFill>
            <a:srgbClr val="080A0E"/>
          </a:solidFill>
          <a:ln/>
        </p:spPr>
      </p:sp>
      <p:sp>
        <p:nvSpPr>
          <p:cNvPr id="47" name="Text 45"/>
          <p:cNvSpPr/>
          <p:nvPr/>
        </p:nvSpPr>
        <p:spPr>
          <a:xfrm>
            <a:off x="457200" y="4005072"/>
            <a:ext cx="4572000" cy="237744"/>
          </a:xfrm>
          <a:prstGeom prst="rect">
            <a:avLst/>
          </a:prstGeom>
          <a:noFill/>
          <a:ln/>
        </p:spPr>
        <p:txBody>
          <a:bodyPr wrap="square" rtlCol="0" anchor="ctr"/>
          <a:lstStyle/>
          <a:p>
            <a:pPr indent="0" marL="0">
              <a:buNone/>
            </a:pPr>
            <a:r>
              <a:rPr lang="en-US" sz="1050" dirty="0">
                <a:solidFill>
                  <a:srgbClr val="A89F8A"/>
                </a:solidFill>
                <a:latin typeface="Calibri" pitchFamily="34" charset="0"/>
                <a:ea typeface="Calibri" pitchFamily="34" charset="-122"/>
                <a:cs typeface="Calibri" pitchFamily="34" charset="-120"/>
              </a:rPr>
              <a:t>Abonnés Newsletter</a:t>
            </a:r>
            <a:endParaRPr lang="en-US" sz="1050" dirty="0"/>
          </a:p>
        </p:txBody>
      </p:sp>
      <p:sp>
        <p:nvSpPr>
          <p:cNvPr id="48" name="Text 46"/>
          <p:cNvSpPr/>
          <p:nvPr/>
        </p:nvSpPr>
        <p:spPr>
          <a:xfrm>
            <a:off x="5212080" y="4005072"/>
            <a:ext cx="1280160" cy="237744"/>
          </a:xfrm>
          <a:prstGeom prst="rect">
            <a:avLst/>
          </a:prstGeom>
          <a:noFill/>
          <a:ln/>
        </p:spPr>
        <p:txBody>
          <a:bodyPr wrap="square" rtlCol="0" anchor="ctr"/>
          <a:lstStyle/>
          <a:p>
            <a:pPr indent="0" marL="0">
              <a:buNone/>
            </a:pPr>
            <a:r>
              <a:rPr lang="en-US" sz="1050" dirty="0">
                <a:solidFill>
                  <a:srgbClr val="C9A84C"/>
                </a:solidFill>
                <a:latin typeface="Calibri" pitchFamily="34" charset="0"/>
                <a:ea typeface="Calibri" pitchFamily="34" charset="-122"/>
                <a:cs typeface="Calibri" pitchFamily="34" charset="-120"/>
              </a:rPr>
              <a:t>5 000</a:t>
            </a:r>
            <a:endParaRPr lang="en-US" sz="1050" dirty="0"/>
          </a:p>
        </p:txBody>
      </p:sp>
      <p:sp>
        <p:nvSpPr>
          <p:cNvPr id="49" name="Text 47"/>
          <p:cNvSpPr/>
          <p:nvPr/>
        </p:nvSpPr>
        <p:spPr>
          <a:xfrm>
            <a:off x="6675120" y="4005072"/>
            <a:ext cx="1280160" cy="237744"/>
          </a:xfrm>
          <a:prstGeom prst="rect">
            <a:avLst/>
          </a:prstGeom>
          <a:noFill/>
          <a:ln/>
        </p:spPr>
        <p:txBody>
          <a:bodyPr wrap="square" rtlCol="0" anchor="ctr"/>
          <a:lstStyle/>
          <a:p>
            <a:pPr indent="0" marL="0">
              <a:buNone/>
            </a:pPr>
            <a:r>
              <a:rPr lang="en-US" sz="1050" dirty="0">
                <a:solidFill>
                  <a:srgbClr val="C9A84C"/>
                </a:solidFill>
                <a:latin typeface="Calibri" pitchFamily="34" charset="0"/>
                <a:ea typeface="Calibri" pitchFamily="34" charset="-122"/>
                <a:cs typeface="Calibri" pitchFamily="34" charset="-120"/>
              </a:rPr>
              <a:t>35 000</a:t>
            </a:r>
            <a:endParaRPr lang="en-US" sz="1050" dirty="0"/>
          </a:p>
        </p:txBody>
      </p:sp>
      <p:sp>
        <p:nvSpPr>
          <p:cNvPr id="50" name="Text 48"/>
          <p:cNvSpPr/>
          <p:nvPr/>
        </p:nvSpPr>
        <p:spPr>
          <a:xfrm>
            <a:off x="8138160" y="4005072"/>
            <a:ext cx="1280160" cy="237744"/>
          </a:xfrm>
          <a:prstGeom prst="rect">
            <a:avLst/>
          </a:prstGeom>
          <a:noFill/>
          <a:ln/>
        </p:spPr>
        <p:txBody>
          <a:bodyPr wrap="square" rtlCol="0" anchor="ctr"/>
          <a:lstStyle/>
          <a:p>
            <a:pPr indent="0" marL="0">
              <a:buNone/>
            </a:pPr>
            <a:r>
              <a:rPr lang="en-US" sz="1050" dirty="0">
                <a:solidFill>
                  <a:srgbClr val="C9A84C"/>
                </a:solidFill>
                <a:latin typeface="Calibri" pitchFamily="34" charset="0"/>
                <a:ea typeface="Calibri" pitchFamily="34" charset="-122"/>
                <a:cs typeface="Calibri" pitchFamily="34" charset="-120"/>
              </a:rPr>
              <a:t>120 000</a:t>
            </a:r>
            <a:endParaRPr lang="en-US" sz="1050" dirty="0"/>
          </a:p>
        </p:txBody>
      </p:sp>
      <p:sp>
        <p:nvSpPr>
          <p:cNvPr id="51" name="Shape 49"/>
          <p:cNvSpPr/>
          <p:nvPr/>
        </p:nvSpPr>
        <p:spPr>
          <a:xfrm>
            <a:off x="320040" y="4297680"/>
            <a:ext cx="8503920" cy="329184"/>
          </a:xfrm>
          <a:prstGeom prst="rect">
            <a:avLst/>
          </a:prstGeom>
          <a:solidFill>
            <a:srgbClr val="0D1017"/>
          </a:solidFill>
          <a:ln/>
        </p:spPr>
      </p:sp>
      <p:sp>
        <p:nvSpPr>
          <p:cNvPr id="52" name="Text 50"/>
          <p:cNvSpPr/>
          <p:nvPr/>
        </p:nvSpPr>
        <p:spPr>
          <a:xfrm>
            <a:off x="457200" y="4352544"/>
            <a:ext cx="4572000" cy="237744"/>
          </a:xfrm>
          <a:prstGeom prst="rect">
            <a:avLst/>
          </a:prstGeom>
          <a:noFill/>
          <a:ln/>
        </p:spPr>
        <p:txBody>
          <a:bodyPr wrap="square" rtlCol="0" anchor="ctr"/>
          <a:lstStyle/>
          <a:p>
            <a:pPr indent="0" marL="0">
              <a:buNone/>
            </a:pPr>
            <a:r>
              <a:rPr lang="en-US" sz="1050" dirty="0">
                <a:solidFill>
                  <a:srgbClr val="A89F8A"/>
                </a:solidFill>
                <a:latin typeface="Calibri" pitchFamily="34" charset="0"/>
                <a:ea typeface="Calibri" pitchFamily="34" charset="-122"/>
                <a:cs typeface="Calibri" pitchFamily="34" charset="-120"/>
              </a:rPr>
              <a:t>Annonceurs Premium Actifs</a:t>
            </a:r>
            <a:endParaRPr lang="en-US" sz="1050" dirty="0"/>
          </a:p>
        </p:txBody>
      </p:sp>
      <p:sp>
        <p:nvSpPr>
          <p:cNvPr id="53" name="Text 51"/>
          <p:cNvSpPr/>
          <p:nvPr/>
        </p:nvSpPr>
        <p:spPr>
          <a:xfrm>
            <a:off x="5212080" y="4352544"/>
            <a:ext cx="1280160" cy="237744"/>
          </a:xfrm>
          <a:prstGeom prst="rect">
            <a:avLst/>
          </a:prstGeom>
          <a:noFill/>
          <a:ln/>
        </p:spPr>
        <p:txBody>
          <a:bodyPr wrap="square" rtlCol="0" anchor="ctr"/>
          <a:lstStyle/>
          <a:p>
            <a:pPr indent="0" marL="0">
              <a:buNone/>
            </a:pPr>
            <a:r>
              <a:rPr lang="en-US" sz="1050" dirty="0">
                <a:solidFill>
                  <a:srgbClr val="C9A84C"/>
                </a:solidFill>
                <a:latin typeface="Calibri" pitchFamily="34" charset="0"/>
                <a:ea typeface="Calibri" pitchFamily="34" charset="-122"/>
                <a:cs typeface="Calibri" pitchFamily="34" charset="-120"/>
              </a:rPr>
              <a:t>8</a:t>
            </a:r>
            <a:endParaRPr lang="en-US" sz="1050" dirty="0"/>
          </a:p>
        </p:txBody>
      </p:sp>
      <p:sp>
        <p:nvSpPr>
          <p:cNvPr id="54" name="Text 52"/>
          <p:cNvSpPr/>
          <p:nvPr/>
        </p:nvSpPr>
        <p:spPr>
          <a:xfrm>
            <a:off x="6675120" y="4352544"/>
            <a:ext cx="1280160" cy="237744"/>
          </a:xfrm>
          <a:prstGeom prst="rect">
            <a:avLst/>
          </a:prstGeom>
          <a:noFill/>
          <a:ln/>
        </p:spPr>
        <p:txBody>
          <a:bodyPr wrap="square" rtlCol="0" anchor="ctr"/>
          <a:lstStyle/>
          <a:p>
            <a:pPr indent="0" marL="0">
              <a:buNone/>
            </a:pPr>
            <a:r>
              <a:rPr lang="en-US" sz="1050" dirty="0">
                <a:solidFill>
                  <a:srgbClr val="C9A84C"/>
                </a:solidFill>
                <a:latin typeface="Calibri" pitchFamily="34" charset="0"/>
                <a:ea typeface="Calibri" pitchFamily="34" charset="-122"/>
                <a:cs typeface="Calibri" pitchFamily="34" charset="-120"/>
              </a:rPr>
              <a:t>32</a:t>
            </a:r>
            <a:endParaRPr lang="en-US" sz="1050" dirty="0"/>
          </a:p>
        </p:txBody>
      </p:sp>
      <p:sp>
        <p:nvSpPr>
          <p:cNvPr id="55" name="Text 53"/>
          <p:cNvSpPr/>
          <p:nvPr/>
        </p:nvSpPr>
        <p:spPr>
          <a:xfrm>
            <a:off x="8138160" y="4352544"/>
            <a:ext cx="1280160" cy="237744"/>
          </a:xfrm>
          <a:prstGeom prst="rect">
            <a:avLst/>
          </a:prstGeom>
          <a:noFill/>
          <a:ln/>
        </p:spPr>
        <p:txBody>
          <a:bodyPr wrap="square" rtlCol="0" anchor="ctr"/>
          <a:lstStyle/>
          <a:p>
            <a:pPr indent="0" marL="0">
              <a:buNone/>
            </a:pPr>
            <a:r>
              <a:rPr lang="en-US" sz="1050" dirty="0">
                <a:solidFill>
                  <a:srgbClr val="C9A84C"/>
                </a:solidFill>
                <a:latin typeface="Calibri" pitchFamily="34" charset="0"/>
                <a:ea typeface="Calibri" pitchFamily="34" charset="-122"/>
                <a:cs typeface="Calibri" pitchFamily="34" charset="-120"/>
              </a:rPr>
              <a:t>85</a:t>
            </a:r>
            <a:endParaRPr lang="en-US" sz="1050" dirty="0"/>
          </a:p>
        </p:txBody>
      </p:sp>
      <p:sp>
        <p:nvSpPr>
          <p:cNvPr id="56" name="Text 54"/>
          <p:cNvSpPr/>
          <p:nvPr/>
        </p:nvSpPr>
        <p:spPr>
          <a:xfrm>
            <a:off x="320040" y="4663440"/>
            <a:ext cx="8503920" cy="274320"/>
          </a:xfrm>
          <a:prstGeom prst="rect">
            <a:avLst/>
          </a:prstGeom>
          <a:noFill/>
          <a:ln/>
        </p:spPr>
        <p:txBody>
          <a:bodyPr wrap="square" rtlCol="0" anchor="ctr"/>
          <a:lstStyle/>
          <a:p>
            <a:pPr indent="0" marL="0">
              <a:buNone/>
            </a:pPr>
            <a:r>
              <a:rPr lang="en-US" sz="850" i="1" dirty="0">
                <a:solidFill>
                  <a:srgbClr val="6B6048"/>
                </a:solidFill>
                <a:latin typeface="Calibri" pitchFamily="34" charset="0"/>
                <a:ea typeface="Calibri" pitchFamily="34" charset="-122"/>
                <a:cs typeface="Calibri" pitchFamily="34" charset="-120"/>
              </a:rPr>
              <a:t>* Projections indicatives basées sur benchmarks du secteur médias financiers africains, européens et asiatiques. Approbation du Conseil requise avant lancement commercial.</a:t>
            </a:r>
            <a:endParaRPr lang="en-US" sz="850" dirty="0"/>
          </a:p>
        </p:txBody>
      </p:sp>
      <p:sp>
        <p:nvSpPr>
          <p:cNvPr id="57" name="Text 55"/>
          <p:cNvSpPr/>
          <p:nvPr/>
        </p:nvSpPr>
        <p:spPr>
          <a:xfrm>
            <a:off x="8732520" y="4800600"/>
            <a:ext cx="365760" cy="228600"/>
          </a:xfrm>
          <a:prstGeom prst="rect">
            <a:avLst/>
          </a:prstGeom>
          <a:noFill/>
          <a:ln/>
        </p:spPr>
        <p:txBody>
          <a:bodyPr wrap="square" rtlCol="0" anchor="ctr"/>
          <a:lstStyle/>
          <a:p>
            <a:pPr indent="0" marL="0">
              <a:buNone/>
            </a:pPr>
            <a:r>
              <a:rPr lang="en-US" sz="900" dirty="0">
                <a:solidFill>
                  <a:srgbClr val="6B6048"/>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A0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017"/>
          </a:solidFill>
          <a:ln/>
        </p:spPr>
      </p:sp>
      <p:sp>
        <p:nvSpPr>
          <p:cNvPr id="3" name="Shape 1"/>
          <p:cNvSpPr/>
          <p:nvPr/>
        </p:nvSpPr>
        <p:spPr>
          <a:xfrm>
            <a:off x="0" y="822960"/>
            <a:ext cx="9144000" cy="36576"/>
          </a:xfrm>
          <a:prstGeom prst="rect">
            <a:avLst/>
          </a:prstGeom>
          <a:solidFill>
            <a:srgbClr val="C9A84C"/>
          </a:solidFill>
          <a:ln/>
        </p:spPr>
      </p:sp>
      <p:sp>
        <p:nvSpPr>
          <p:cNvPr id="4" name="Text 2"/>
          <p:cNvSpPr/>
          <p:nvPr/>
        </p:nvSpPr>
        <p:spPr>
          <a:xfrm>
            <a:off x="411480" y="128016"/>
            <a:ext cx="8229600" cy="256032"/>
          </a:xfrm>
          <a:prstGeom prst="rect">
            <a:avLst/>
          </a:prstGeom>
          <a:noFill/>
          <a:ln/>
        </p:spPr>
        <p:txBody>
          <a:bodyPr wrap="square" rtlCol="0" anchor="ctr"/>
          <a:lstStyle/>
          <a:p>
            <a:pPr indent="0" marL="0">
              <a:buNone/>
            </a:pPr>
            <a:r>
              <a:rPr lang="en-US" sz="900" spc="400" kern="0" dirty="0">
                <a:solidFill>
                  <a:srgbClr val="8A6A20"/>
                </a:solidFill>
                <a:latin typeface="Calibri" pitchFamily="34" charset="0"/>
                <a:ea typeface="Calibri" pitchFamily="34" charset="-122"/>
                <a:cs typeface="Calibri" pitchFamily="34" charset="-120"/>
              </a:rPr>
              <a:t>ALIGNEMENT SND30 &amp; CONFORMITÉ</a:t>
            </a:r>
            <a:endParaRPr lang="en-US" sz="900" dirty="0"/>
          </a:p>
        </p:txBody>
      </p:sp>
      <p:sp>
        <p:nvSpPr>
          <p:cNvPr id="5" name="Text 3"/>
          <p:cNvSpPr/>
          <p:nvPr/>
        </p:nvSpPr>
        <p:spPr>
          <a:xfrm>
            <a:off x="411480" y="402336"/>
            <a:ext cx="8229600" cy="347472"/>
          </a:xfrm>
          <a:prstGeom prst="rect">
            <a:avLst/>
          </a:prstGeom>
          <a:noFill/>
          <a:ln/>
        </p:spPr>
        <p:txBody>
          <a:bodyPr wrap="square" rtlCol="0" anchor="ctr"/>
          <a:lstStyle/>
          <a:p>
            <a:pPr indent="0" marL="0">
              <a:buNone/>
            </a:pPr>
            <a:r>
              <a:rPr lang="en-US" sz="2000" b="1" dirty="0">
                <a:solidFill>
                  <a:srgbClr val="E8E4D9"/>
                </a:solidFill>
                <a:latin typeface="Georgia" pitchFamily="34" charset="0"/>
                <a:ea typeface="Georgia" pitchFamily="34" charset="-122"/>
                <a:cs typeface="Georgia" pitchFamily="34" charset="-120"/>
              </a:rPr>
              <a:t>Ce Projet Sert l'État et la Vision Nationale</a:t>
            </a:r>
            <a:endParaRPr lang="en-US" sz="2000" dirty="0"/>
          </a:p>
        </p:txBody>
      </p:sp>
      <p:sp>
        <p:nvSpPr>
          <p:cNvPr id="6" name="Shape 4"/>
          <p:cNvSpPr/>
          <p:nvPr/>
        </p:nvSpPr>
        <p:spPr>
          <a:xfrm>
            <a:off x="320040" y="960120"/>
            <a:ext cx="4023360" cy="3931920"/>
          </a:xfrm>
          <a:prstGeom prst="rect">
            <a:avLst/>
          </a:prstGeom>
          <a:solidFill>
            <a:srgbClr val="0D1017"/>
          </a:solidFill>
          <a:ln/>
        </p:spPr>
      </p:sp>
      <p:sp>
        <p:nvSpPr>
          <p:cNvPr id="7" name="Shape 5"/>
          <p:cNvSpPr/>
          <p:nvPr/>
        </p:nvSpPr>
        <p:spPr>
          <a:xfrm>
            <a:off x="320040" y="960120"/>
            <a:ext cx="4023360" cy="36576"/>
          </a:xfrm>
          <a:prstGeom prst="rect">
            <a:avLst/>
          </a:prstGeom>
          <a:solidFill>
            <a:srgbClr val="C9A84C"/>
          </a:solidFill>
          <a:ln/>
        </p:spPr>
      </p:sp>
      <p:sp>
        <p:nvSpPr>
          <p:cNvPr id="8" name="Text 6"/>
          <p:cNvSpPr/>
          <p:nvPr/>
        </p:nvSpPr>
        <p:spPr>
          <a:xfrm>
            <a:off x="457200" y="1042416"/>
            <a:ext cx="3749040" cy="237744"/>
          </a:xfrm>
          <a:prstGeom prst="rect">
            <a:avLst/>
          </a:prstGeom>
          <a:noFill/>
          <a:ln/>
        </p:spPr>
        <p:txBody>
          <a:bodyPr wrap="square" rtlCol="0" anchor="ctr"/>
          <a:lstStyle/>
          <a:p>
            <a:pPr indent="0" marL="0">
              <a:buNone/>
            </a:pPr>
            <a:r>
              <a:rPr lang="en-US" sz="850" spc="200" kern="0" dirty="0">
                <a:solidFill>
                  <a:srgbClr val="C9A84C"/>
                </a:solidFill>
                <a:latin typeface="Calibri" pitchFamily="34" charset="0"/>
                <a:ea typeface="Calibri" pitchFamily="34" charset="-122"/>
                <a:cs typeface="Calibri" pitchFamily="34" charset="-120"/>
              </a:rPr>
              <a:t>AXES SND30 DIRECTEMENT SERVIS</a:t>
            </a:r>
            <a:endParaRPr lang="en-US" sz="850" dirty="0"/>
          </a:p>
        </p:txBody>
      </p:sp>
      <p:sp>
        <p:nvSpPr>
          <p:cNvPr id="9" name="Shape 7"/>
          <p:cNvSpPr/>
          <p:nvPr/>
        </p:nvSpPr>
        <p:spPr>
          <a:xfrm>
            <a:off x="347472" y="1426464"/>
            <a:ext cx="36576" cy="457200"/>
          </a:xfrm>
          <a:prstGeom prst="rect">
            <a:avLst/>
          </a:prstGeom>
          <a:solidFill>
            <a:srgbClr val="C9A84C"/>
          </a:solidFill>
          <a:ln/>
        </p:spPr>
      </p:sp>
      <p:sp>
        <p:nvSpPr>
          <p:cNvPr id="10" name="Text 8"/>
          <p:cNvSpPr/>
          <p:nvPr/>
        </p:nvSpPr>
        <p:spPr>
          <a:xfrm>
            <a:off x="475488" y="1371600"/>
            <a:ext cx="3749040" cy="256032"/>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Compétitivité Nationale</a:t>
            </a:r>
            <a:endParaRPr lang="en-US" sz="1050" dirty="0"/>
          </a:p>
        </p:txBody>
      </p:sp>
      <p:sp>
        <p:nvSpPr>
          <p:cNvPr id="11" name="Text 9"/>
          <p:cNvSpPr/>
          <p:nvPr/>
        </p:nvSpPr>
        <p:spPr>
          <a:xfrm>
            <a:off x="475488" y="1609344"/>
            <a:ext cx="3657600" cy="36576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Intelligence économique = avantage compétitif direct pour les entreprises et acteurs camerounais négociant avec des partenaires internationaux.</a:t>
            </a:r>
            <a:endParaRPr lang="en-US" sz="950" dirty="0"/>
          </a:p>
        </p:txBody>
      </p:sp>
      <p:sp>
        <p:nvSpPr>
          <p:cNvPr id="12" name="Shape 10"/>
          <p:cNvSpPr/>
          <p:nvPr/>
        </p:nvSpPr>
        <p:spPr>
          <a:xfrm>
            <a:off x="347472" y="2084832"/>
            <a:ext cx="36576" cy="457200"/>
          </a:xfrm>
          <a:prstGeom prst="rect">
            <a:avLst/>
          </a:prstGeom>
          <a:solidFill>
            <a:srgbClr val="C9A84C"/>
          </a:solidFill>
          <a:ln/>
        </p:spPr>
      </p:sp>
      <p:sp>
        <p:nvSpPr>
          <p:cNvPr id="13" name="Text 11"/>
          <p:cNvSpPr/>
          <p:nvPr/>
        </p:nvSpPr>
        <p:spPr>
          <a:xfrm>
            <a:off x="475488" y="2029968"/>
            <a:ext cx="3749040" cy="256032"/>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Transformation Digitale</a:t>
            </a:r>
            <a:endParaRPr lang="en-US" sz="1050" dirty="0"/>
          </a:p>
        </p:txBody>
      </p:sp>
      <p:sp>
        <p:nvSpPr>
          <p:cNvPr id="14" name="Text 12"/>
          <p:cNvSpPr/>
          <p:nvPr/>
        </p:nvSpPr>
        <p:spPr>
          <a:xfrm>
            <a:off x="475488" y="2267712"/>
            <a:ext cx="3657600" cy="36576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Plateforme 100% numérique, PWA mobile-first, paiement Mobile Money — contribution mesurable à la digitalisation de l'économie nationale.</a:t>
            </a:r>
            <a:endParaRPr lang="en-US" sz="950" dirty="0"/>
          </a:p>
        </p:txBody>
      </p:sp>
      <p:sp>
        <p:nvSpPr>
          <p:cNvPr id="15" name="Shape 13"/>
          <p:cNvSpPr/>
          <p:nvPr/>
        </p:nvSpPr>
        <p:spPr>
          <a:xfrm>
            <a:off x="347472" y="2743200"/>
            <a:ext cx="36576" cy="457200"/>
          </a:xfrm>
          <a:prstGeom prst="rect">
            <a:avLst/>
          </a:prstGeom>
          <a:solidFill>
            <a:srgbClr val="C9A84C"/>
          </a:solidFill>
          <a:ln/>
        </p:spPr>
      </p:sp>
      <p:sp>
        <p:nvSpPr>
          <p:cNvPr id="16" name="Text 14"/>
          <p:cNvSpPr/>
          <p:nvPr/>
        </p:nvSpPr>
        <p:spPr>
          <a:xfrm>
            <a:off x="475488" y="2688336"/>
            <a:ext cx="3749040" cy="256032"/>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Capital Humain &amp; Formation</a:t>
            </a:r>
            <a:endParaRPr lang="en-US" sz="1050" dirty="0"/>
          </a:p>
        </p:txBody>
      </p:sp>
      <p:sp>
        <p:nvSpPr>
          <p:cNvPr id="17" name="Text 15"/>
          <p:cNvSpPr/>
          <p:nvPr/>
        </p:nvSpPr>
        <p:spPr>
          <a:xfrm>
            <a:off x="475488" y="2926080"/>
            <a:ext cx="3657600" cy="36576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Académie financière gratuite en français et anglais — former une génération d'investisseurs camerounais compétents et actifs.</a:t>
            </a:r>
            <a:endParaRPr lang="en-US" sz="950" dirty="0"/>
          </a:p>
        </p:txBody>
      </p:sp>
      <p:sp>
        <p:nvSpPr>
          <p:cNvPr id="18" name="Shape 16"/>
          <p:cNvSpPr/>
          <p:nvPr/>
        </p:nvSpPr>
        <p:spPr>
          <a:xfrm>
            <a:off x="347472" y="3401568"/>
            <a:ext cx="36576" cy="457200"/>
          </a:xfrm>
          <a:prstGeom prst="rect">
            <a:avLst/>
          </a:prstGeom>
          <a:solidFill>
            <a:srgbClr val="C9A84C"/>
          </a:solidFill>
          <a:ln/>
        </p:spPr>
      </p:sp>
      <p:sp>
        <p:nvSpPr>
          <p:cNvPr id="19" name="Text 17"/>
          <p:cNvSpPr/>
          <p:nvPr/>
        </p:nvSpPr>
        <p:spPr>
          <a:xfrm>
            <a:off x="475488" y="3346704"/>
            <a:ext cx="3749040" cy="256032"/>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Intégration Financière Régionale</a:t>
            </a:r>
            <a:endParaRPr lang="en-US" sz="1050" dirty="0"/>
          </a:p>
        </p:txBody>
      </p:sp>
      <p:sp>
        <p:nvSpPr>
          <p:cNvPr id="20" name="Text 18"/>
          <p:cNvSpPr/>
          <p:nvPr/>
        </p:nvSpPr>
        <p:spPr>
          <a:xfrm>
            <a:off x="475488" y="3584448"/>
            <a:ext cx="3657600" cy="36576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Hub panafricain rayonnant depuis Yaoundé — renforcement du leadership du Cameroun au sein de la CEMAC et de l'Union Africaine.</a:t>
            </a:r>
            <a:endParaRPr lang="en-US" sz="950" dirty="0"/>
          </a:p>
        </p:txBody>
      </p:sp>
      <p:sp>
        <p:nvSpPr>
          <p:cNvPr id="21" name="Shape 19"/>
          <p:cNvSpPr/>
          <p:nvPr/>
        </p:nvSpPr>
        <p:spPr>
          <a:xfrm>
            <a:off x="347472" y="4059936"/>
            <a:ext cx="36576" cy="457200"/>
          </a:xfrm>
          <a:prstGeom prst="rect">
            <a:avLst/>
          </a:prstGeom>
          <a:solidFill>
            <a:srgbClr val="C9A84C"/>
          </a:solidFill>
          <a:ln/>
        </p:spPr>
      </p:sp>
      <p:sp>
        <p:nvSpPr>
          <p:cNvPr id="22" name="Text 20"/>
          <p:cNvSpPr/>
          <p:nvPr/>
        </p:nvSpPr>
        <p:spPr>
          <a:xfrm>
            <a:off x="475488" y="4005072"/>
            <a:ext cx="3749040" cy="256032"/>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Attractivité des Investissements</a:t>
            </a:r>
            <a:endParaRPr lang="en-US" sz="1050" dirty="0"/>
          </a:p>
        </p:txBody>
      </p:sp>
      <p:sp>
        <p:nvSpPr>
          <p:cNvPr id="23" name="Text 21"/>
          <p:cNvSpPr/>
          <p:nvPr/>
        </p:nvSpPr>
        <p:spPr>
          <a:xfrm>
            <a:off x="475488" y="4242816"/>
            <a:ext cx="3657600" cy="36576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Vitrine des opportunités camerounaises pour la diaspora mondiale et les investisseurs étrangers, en partenariat avec les institutions de l'État.</a:t>
            </a:r>
            <a:endParaRPr lang="en-US" sz="950" dirty="0"/>
          </a:p>
        </p:txBody>
      </p:sp>
      <p:sp>
        <p:nvSpPr>
          <p:cNvPr id="24" name="Shape 22"/>
          <p:cNvSpPr/>
          <p:nvPr/>
        </p:nvSpPr>
        <p:spPr>
          <a:xfrm>
            <a:off x="4800600" y="960120"/>
            <a:ext cx="4023360" cy="3931920"/>
          </a:xfrm>
          <a:prstGeom prst="rect">
            <a:avLst/>
          </a:prstGeom>
          <a:solidFill>
            <a:srgbClr val="0D1017"/>
          </a:solidFill>
          <a:ln/>
        </p:spPr>
      </p:sp>
      <p:sp>
        <p:nvSpPr>
          <p:cNvPr id="25" name="Shape 23"/>
          <p:cNvSpPr/>
          <p:nvPr/>
        </p:nvSpPr>
        <p:spPr>
          <a:xfrm>
            <a:off x="4800600" y="960120"/>
            <a:ext cx="4023360" cy="36576"/>
          </a:xfrm>
          <a:prstGeom prst="rect">
            <a:avLst/>
          </a:prstGeom>
          <a:solidFill>
            <a:srgbClr val="4CAF75"/>
          </a:solidFill>
          <a:ln/>
        </p:spPr>
      </p:sp>
      <p:sp>
        <p:nvSpPr>
          <p:cNvPr id="26" name="Text 24"/>
          <p:cNvSpPr/>
          <p:nvPr/>
        </p:nvSpPr>
        <p:spPr>
          <a:xfrm>
            <a:off x="4937760" y="1042416"/>
            <a:ext cx="3749040" cy="237744"/>
          </a:xfrm>
          <a:prstGeom prst="rect">
            <a:avLst/>
          </a:prstGeom>
          <a:noFill/>
          <a:ln/>
        </p:spPr>
        <p:txBody>
          <a:bodyPr wrap="square" rtlCol="0" anchor="ctr"/>
          <a:lstStyle/>
          <a:p>
            <a:pPr indent="0" marL="0">
              <a:buNone/>
            </a:pPr>
            <a:r>
              <a:rPr lang="en-US" sz="850" spc="200" kern="0" dirty="0">
                <a:solidFill>
                  <a:srgbClr val="4CAF75"/>
                </a:solidFill>
                <a:latin typeface="Calibri" pitchFamily="34" charset="0"/>
                <a:ea typeface="Calibri" pitchFamily="34" charset="-122"/>
                <a:cs typeface="Calibri" pitchFamily="34" charset="-120"/>
              </a:rPr>
              <a:t>CADRE RÉGLEMENTAIRE — AUCUN OBSTACLE</a:t>
            </a:r>
            <a:endParaRPr lang="en-US" sz="850" dirty="0"/>
          </a:p>
        </p:txBody>
      </p:sp>
      <p:sp>
        <p:nvSpPr>
          <p:cNvPr id="27" name="Shape 25"/>
          <p:cNvSpPr/>
          <p:nvPr/>
        </p:nvSpPr>
        <p:spPr>
          <a:xfrm>
            <a:off x="4828032" y="1408176"/>
            <a:ext cx="36576" cy="658368"/>
          </a:xfrm>
          <a:prstGeom prst="rect">
            <a:avLst/>
          </a:prstGeom>
          <a:solidFill>
            <a:srgbClr val="4CAF75"/>
          </a:solidFill>
          <a:ln/>
        </p:spPr>
      </p:sp>
      <p:sp>
        <p:nvSpPr>
          <p:cNvPr id="28" name="Text 26"/>
          <p:cNvSpPr/>
          <p:nvPr/>
        </p:nvSpPr>
        <p:spPr>
          <a:xfrm>
            <a:off x="4956048" y="1371600"/>
            <a:ext cx="3749040" cy="256032"/>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Licence Financière Requise ?</a:t>
            </a:r>
            <a:endParaRPr lang="en-US" sz="1050" dirty="0"/>
          </a:p>
        </p:txBody>
      </p:sp>
      <p:sp>
        <p:nvSpPr>
          <p:cNvPr id="29" name="Text 27"/>
          <p:cNvSpPr/>
          <p:nvPr/>
        </p:nvSpPr>
        <p:spPr>
          <a:xfrm>
            <a:off x="4956048" y="1609344"/>
            <a:ext cx="3749040" cy="54864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NON — SOPECAM Capital opère comme entité éditoriale et media. Aucune licence COSUMAF requise pour la publication d'information financière.</a:t>
            </a:r>
            <a:endParaRPr lang="en-US" sz="950" dirty="0"/>
          </a:p>
        </p:txBody>
      </p:sp>
      <p:sp>
        <p:nvSpPr>
          <p:cNvPr id="30" name="Shape 28"/>
          <p:cNvSpPr/>
          <p:nvPr/>
        </p:nvSpPr>
        <p:spPr>
          <a:xfrm>
            <a:off x="4828032" y="2267712"/>
            <a:ext cx="36576" cy="658368"/>
          </a:xfrm>
          <a:prstGeom prst="rect">
            <a:avLst/>
          </a:prstGeom>
          <a:solidFill>
            <a:srgbClr val="4CAF75"/>
          </a:solidFill>
          <a:ln/>
        </p:spPr>
      </p:sp>
      <p:sp>
        <p:nvSpPr>
          <p:cNvPr id="31" name="Text 29"/>
          <p:cNvSpPr/>
          <p:nvPr/>
        </p:nvSpPr>
        <p:spPr>
          <a:xfrm>
            <a:off x="4956048" y="2231136"/>
            <a:ext cx="3749040" cy="256032"/>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Conflit avec la Réglementation BEAC ?</a:t>
            </a:r>
            <a:endParaRPr lang="en-US" sz="1050" dirty="0"/>
          </a:p>
        </p:txBody>
      </p:sp>
      <p:sp>
        <p:nvSpPr>
          <p:cNvPr id="32" name="Text 30"/>
          <p:cNvSpPr/>
          <p:nvPr/>
        </p:nvSpPr>
        <p:spPr>
          <a:xfrm>
            <a:off x="4956048" y="2468880"/>
            <a:ext cx="3749040" cy="54864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NON — La plateforme ne collecte aucun fonds, ne tient aucun compte client. Les partenaires brokers portent leurs propres licences.</a:t>
            </a:r>
            <a:endParaRPr lang="en-US" sz="950" dirty="0"/>
          </a:p>
        </p:txBody>
      </p:sp>
      <p:sp>
        <p:nvSpPr>
          <p:cNvPr id="33" name="Shape 31"/>
          <p:cNvSpPr/>
          <p:nvPr/>
        </p:nvSpPr>
        <p:spPr>
          <a:xfrm>
            <a:off x="4828032" y="3127248"/>
            <a:ext cx="36576" cy="658368"/>
          </a:xfrm>
          <a:prstGeom prst="rect">
            <a:avLst/>
          </a:prstGeom>
          <a:solidFill>
            <a:srgbClr val="4CAF75"/>
          </a:solidFill>
          <a:ln/>
        </p:spPr>
      </p:sp>
      <p:sp>
        <p:nvSpPr>
          <p:cNvPr id="34" name="Text 32"/>
          <p:cNvSpPr/>
          <p:nvPr/>
        </p:nvSpPr>
        <p:spPr>
          <a:xfrm>
            <a:off x="4956048" y="3090672"/>
            <a:ext cx="3749040" cy="256032"/>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Risque Capital pour SOPECAM ?</a:t>
            </a:r>
            <a:endParaRPr lang="en-US" sz="1050" dirty="0"/>
          </a:p>
        </p:txBody>
      </p:sp>
      <p:sp>
        <p:nvSpPr>
          <p:cNvPr id="35" name="Text 33"/>
          <p:cNvSpPr/>
          <p:nvPr/>
        </p:nvSpPr>
        <p:spPr>
          <a:xfrm>
            <a:off x="4956048" y="3328416"/>
            <a:ext cx="3749040" cy="54864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NUL — Le modèle est 100% basé sur la licence de marque et l'audience. Aucun risque financier propre. Investissement limité à l'équipe éditoriale.</a:t>
            </a:r>
            <a:endParaRPr lang="en-US" sz="950" dirty="0"/>
          </a:p>
        </p:txBody>
      </p:sp>
      <p:sp>
        <p:nvSpPr>
          <p:cNvPr id="36" name="Shape 34"/>
          <p:cNvSpPr/>
          <p:nvPr/>
        </p:nvSpPr>
        <p:spPr>
          <a:xfrm>
            <a:off x="4828032" y="3986784"/>
            <a:ext cx="36576" cy="658368"/>
          </a:xfrm>
          <a:prstGeom prst="rect">
            <a:avLst/>
          </a:prstGeom>
          <a:solidFill>
            <a:srgbClr val="4CAF75"/>
          </a:solidFill>
          <a:ln/>
        </p:spPr>
      </p:sp>
      <p:sp>
        <p:nvSpPr>
          <p:cNvPr id="37" name="Text 35"/>
          <p:cNvSpPr/>
          <p:nvPr/>
        </p:nvSpPr>
        <p:spPr>
          <a:xfrm>
            <a:off x="4956048" y="3950208"/>
            <a:ext cx="3749040" cy="256032"/>
          </a:xfrm>
          <a:prstGeom prst="rect">
            <a:avLst/>
          </a:prstGeom>
          <a:noFill/>
          <a:ln/>
        </p:spPr>
        <p:txBody>
          <a:bodyPr wrap="square" rtlCol="0" anchor="ctr"/>
          <a:lstStyle/>
          <a:p>
            <a:pPr indent="0" marL="0">
              <a:buNone/>
            </a:pPr>
            <a:r>
              <a:rPr lang="en-US" sz="1050" b="1" dirty="0">
                <a:solidFill>
                  <a:srgbClr val="E8E4D9"/>
                </a:solidFill>
                <a:latin typeface="Calibri" pitchFamily="34" charset="0"/>
                <a:ea typeface="Calibri" pitchFamily="34" charset="-122"/>
                <a:cs typeface="Calibri" pitchFamily="34" charset="-120"/>
              </a:rPr>
              <a:t>L'argent "quitte" le Cameroun ?</a:t>
            </a:r>
            <a:endParaRPr lang="en-US" sz="1050" dirty="0"/>
          </a:p>
        </p:txBody>
      </p:sp>
      <p:sp>
        <p:nvSpPr>
          <p:cNvPr id="38" name="Text 36"/>
          <p:cNvSpPr/>
          <p:nvPr/>
        </p:nvSpPr>
        <p:spPr>
          <a:xfrm>
            <a:off x="4956048" y="4187952"/>
            <a:ext cx="3749040" cy="54864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NON — Comme la Norvège (NBIM $1 700Mds), le Qatar (QIA $475Mds) ou Singapour (GIC $770Mds) : les capitaux investis à l'étranger reviennent en rendements amplifiés. C'est de la souveraineté économique.</a:t>
            </a:r>
            <a:endParaRPr lang="en-US" sz="950" dirty="0"/>
          </a:p>
        </p:txBody>
      </p:sp>
      <p:sp>
        <p:nvSpPr>
          <p:cNvPr id="39" name="Text 37"/>
          <p:cNvSpPr/>
          <p:nvPr/>
        </p:nvSpPr>
        <p:spPr>
          <a:xfrm>
            <a:off x="8732520" y="4800600"/>
            <a:ext cx="365760" cy="228600"/>
          </a:xfrm>
          <a:prstGeom prst="rect">
            <a:avLst/>
          </a:prstGeom>
          <a:noFill/>
          <a:ln/>
        </p:spPr>
        <p:txBody>
          <a:bodyPr wrap="square" rtlCol="0" anchor="ctr"/>
          <a:lstStyle/>
          <a:p>
            <a:pPr indent="0" marL="0">
              <a:buNone/>
            </a:pPr>
            <a:r>
              <a:rPr lang="en-US" sz="900" dirty="0">
                <a:solidFill>
                  <a:srgbClr val="6B6048"/>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A0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017"/>
          </a:solidFill>
          <a:ln/>
        </p:spPr>
      </p:sp>
      <p:sp>
        <p:nvSpPr>
          <p:cNvPr id="3" name="Shape 1"/>
          <p:cNvSpPr/>
          <p:nvPr/>
        </p:nvSpPr>
        <p:spPr>
          <a:xfrm>
            <a:off x="0" y="822960"/>
            <a:ext cx="9144000" cy="36576"/>
          </a:xfrm>
          <a:prstGeom prst="rect">
            <a:avLst/>
          </a:prstGeom>
          <a:solidFill>
            <a:srgbClr val="C9A84C"/>
          </a:solidFill>
          <a:ln/>
        </p:spPr>
      </p:sp>
      <p:sp>
        <p:nvSpPr>
          <p:cNvPr id="4" name="Text 2"/>
          <p:cNvSpPr/>
          <p:nvPr/>
        </p:nvSpPr>
        <p:spPr>
          <a:xfrm>
            <a:off x="411480" y="128016"/>
            <a:ext cx="8229600" cy="256032"/>
          </a:xfrm>
          <a:prstGeom prst="rect">
            <a:avLst/>
          </a:prstGeom>
          <a:noFill/>
          <a:ln/>
        </p:spPr>
        <p:txBody>
          <a:bodyPr wrap="square" rtlCol="0" anchor="ctr"/>
          <a:lstStyle/>
          <a:p>
            <a:pPr indent="0" marL="0">
              <a:buNone/>
            </a:pPr>
            <a:r>
              <a:rPr lang="en-US" sz="900" spc="400" kern="0" dirty="0">
                <a:solidFill>
                  <a:srgbClr val="8A6A20"/>
                </a:solidFill>
                <a:latin typeface="Calibri" pitchFamily="34" charset="0"/>
                <a:ea typeface="Calibri" pitchFamily="34" charset="-122"/>
                <a:cs typeface="Calibri" pitchFamily="34" charset="-120"/>
              </a:rPr>
              <a:t>FEUILLE DE ROUTE</a:t>
            </a:r>
            <a:endParaRPr lang="en-US" sz="900" dirty="0"/>
          </a:p>
        </p:txBody>
      </p:sp>
      <p:sp>
        <p:nvSpPr>
          <p:cNvPr id="5" name="Text 3"/>
          <p:cNvSpPr/>
          <p:nvPr/>
        </p:nvSpPr>
        <p:spPr>
          <a:xfrm>
            <a:off x="411480" y="402336"/>
            <a:ext cx="8229600" cy="347472"/>
          </a:xfrm>
          <a:prstGeom prst="rect">
            <a:avLst/>
          </a:prstGeom>
          <a:noFill/>
          <a:ln/>
        </p:spPr>
        <p:txBody>
          <a:bodyPr wrap="square" rtlCol="0" anchor="ctr"/>
          <a:lstStyle/>
          <a:p>
            <a:pPr indent="0" marL="0">
              <a:buNone/>
            </a:pPr>
            <a:r>
              <a:rPr lang="en-US" sz="1800" b="1" dirty="0">
                <a:solidFill>
                  <a:srgbClr val="E8E4D9"/>
                </a:solidFill>
                <a:latin typeface="Georgia" pitchFamily="34" charset="0"/>
                <a:ea typeface="Georgia" pitchFamily="34" charset="-122"/>
                <a:cs typeface="Georgia" pitchFamily="34" charset="-120"/>
              </a:rPr>
              <a:t>De l'Approbation du Conseil au Rayonnement Continental — 18 Mois</a:t>
            </a:r>
            <a:endParaRPr lang="en-US" sz="1800" dirty="0"/>
          </a:p>
        </p:txBody>
      </p:sp>
      <p:sp>
        <p:nvSpPr>
          <p:cNvPr id="6" name="Shape 4"/>
          <p:cNvSpPr/>
          <p:nvPr/>
        </p:nvSpPr>
        <p:spPr>
          <a:xfrm>
            <a:off x="274320" y="960120"/>
            <a:ext cx="2029968" cy="3931920"/>
          </a:xfrm>
          <a:prstGeom prst="rect">
            <a:avLst/>
          </a:prstGeom>
          <a:solidFill>
            <a:srgbClr val="0D1017"/>
          </a:solidFill>
          <a:ln/>
        </p:spPr>
      </p:sp>
      <p:sp>
        <p:nvSpPr>
          <p:cNvPr id="7" name="Shape 5"/>
          <p:cNvSpPr/>
          <p:nvPr/>
        </p:nvSpPr>
        <p:spPr>
          <a:xfrm>
            <a:off x="274320" y="960120"/>
            <a:ext cx="2029968" cy="36576"/>
          </a:xfrm>
          <a:prstGeom prst="rect">
            <a:avLst/>
          </a:prstGeom>
          <a:solidFill>
            <a:srgbClr val="6B6048"/>
          </a:solidFill>
          <a:ln/>
        </p:spPr>
      </p:sp>
      <p:sp>
        <p:nvSpPr>
          <p:cNvPr id="8" name="Text 6"/>
          <p:cNvSpPr/>
          <p:nvPr/>
        </p:nvSpPr>
        <p:spPr>
          <a:xfrm>
            <a:off x="274320" y="1042416"/>
            <a:ext cx="2029968" cy="201168"/>
          </a:xfrm>
          <a:prstGeom prst="rect">
            <a:avLst/>
          </a:prstGeom>
          <a:noFill/>
          <a:ln/>
        </p:spPr>
        <p:txBody>
          <a:bodyPr wrap="square" rtlCol="0" anchor="ctr"/>
          <a:lstStyle/>
          <a:p>
            <a:pPr algn="ctr" indent="0" marL="0">
              <a:buNone/>
            </a:pPr>
            <a:r>
              <a:rPr lang="en-US" sz="850" spc="100" kern="0" dirty="0">
                <a:solidFill>
                  <a:srgbClr val="6B6048"/>
                </a:solidFill>
                <a:latin typeface="Calibri" pitchFamily="34" charset="0"/>
                <a:ea typeface="Calibri" pitchFamily="34" charset="-122"/>
                <a:cs typeface="Calibri" pitchFamily="34" charset="-120"/>
              </a:rPr>
              <a:t>PHASE 0</a:t>
            </a:r>
            <a:endParaRPr lang="en-US" sz="850" dirty="0"/>
          </a:p>
        </p:txBody>
      </p:sp>
      <p:sp>
        <p:nvSpPr>
          <p:cNvPr id="9" name="Text 7"/>
          <p:cNvSpPr/>
          <p:nvPr/>
        </p:nvSpPr>
        <p:spPr>
          <a:xfrm>
            <a:off x="274320" y="1243584"/>
            <a:ext cx="2029968" cy="219456"/>
          </a:xfrm>
          <a:prstGeom prst="rect">
            <a:avLst/>
          </a:prstGeom>
          <a:noFill/>
          <a:ln/>
        </p:spPr>
        <p:txBody>
          <a:bodyPr wrap="square" rtlCol="0" anchor="ctr"/>
          <a:lstStyle/>
          <a:p>
            <a:pPr algn="ctr" indent="0" marL="0">
              <a:buNone/>
            </a:pPr>
            <a:r>
              <a:rPr lang="en-US" sz="900" dirty="0">
                <a:solidFill>
                  <a:srgbClr val="6B6048"/>
                </a:solidFill>
                <a:latin typeface="Calibri" pitchFamily="34" charset="0"/>
                <a:ea typeface="Calibri" pitchFamily="34" charset="-122"/>
                <a:cs typeface="Calibri" pitchFamily="34" charset="-120"/>
              </a:rPr>
              <a:t>Mois 0–2</a:t>
            </a:r>
            <a:endParaRPr lang="en-US" sz="900" dirty="0"/>
          </a:p>
        </p:txBody>
      </p:sp>
      <p:sp>
        <p:nvSpPr>
          <p:cNvPr id="10" name="Text 8"/>
          <p:cNvSpPr/>
          <p:nvPr/>
        </p:nvSpPr>
        <p:spPr>
          <a:xfrm>
            <a:off x="274320" y="1481328"/>
            <a:ext cx="2029968" cy="347472"/>
          </a:xfrm>
          <a:prstGeom prst="rect">
            <a:avLst/>
          </a:prstGeom>
          <a:noFill/>
          <a:ln/>
        </p:spPr>
        <p:txBody>
          <a:bodyPr wrap="square" rtlCol="0" anchor="ctr"/>
          <a:lstStyle/>
          <a:p>
            <a:pPr algn="ctr" indent="0" marL="0">
              <a:buNone/>
            </a:pPr>
            <a:r>
              <a:rPr lang="en-US" sz="1400" b="1" dirty="0">
                <a:solidFill>
                  <a:srgbClr val="E8E4D9"/>
                </a:solidFill>
                <a:latin typeface="Georgia" pitchFamily="34" charset="0"/>
                <a:ea typeface="Georgia" pitchFamily="34" charset="-122"/>
                <a:cs typeface="Georgia" pitchFamily="34" charset="-120"/>
              </a:rPr>
              <a:t>Fondations</a:t>
            </a:r>
            <a:endParaRPr lang="en-US" sz="1400" dirty="0"/>
          </a:p>
        </p:txBody>
      </p:sp>
      <p:sp>
        <p:nvSpPr>
          <p:cNvPr id="11" name="Shape 9"/>
          <p:cNvSpPr/>
          <p:nvPr/>
        </p:nvSpPr>
        <p:spPr>
          <a:xfrm>
            <a:off x="457200" y="1874520"/>
            <a:ext cx="1664208" cy="0"/>
          </a:xfrm>
          <a:prstGeom prst="line">
            <a:avLst/>
          </a:prstGeom>
          <a:noFill/>
          <a:ln w="6350">
            <a:solidFill>
              <a:srgbClr val="6B6048"/>
            </a:solidFill>
            <a:prstDash val="solid"/>
          </a:ln>
        </p:spPr>
      </p:sp>
      <p:sp>
        <p:nvSpPr>
          <p:cNvPr id="12" name="Text 10"/>
          <p:cNvSpPr/>
          <p:nvPr/>
        </p:nvSpPr>
        <p:spPr>
          <a:xfrm>
            <a:off x="384048" y="1965960"/>
            <a:ext cx="1810512" cy="2852928"/>
          </a:xfrm>
          <a:prstGeom prst="rect">
            <a:avLst/>
          </a:prstGeom>
          <a:noFill/>
          <a:ln/>
        </p:spPr>
        <p:txBody>
          <a:bodyPr wrap="square" rtlCol="0" anchor="t"/>
          <a:lstStyle/>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Approbation formelle du Conseil</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Sélection partenaires tech &amp; data</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Recrutement équipe éditoriale (6 profils)</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Cadre juridique &amp; compliance COSUMAF</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Signature accords de partenariat</a:t>
            </a:r>
            <a:endParaRPr lang="en-US" sz="950" dirty="0"/>
          </a:p>
        </p:txBody>
      </p:sp>
      <p:sp>
        <p:nvSpPr>
          <p:cNvPr id="13" name="Shape 11"/>
          <p:cNvSpPr/>
          <p:nvPr/>
        </p:nvSpPr>
        <p:spPr>
          <a:xfrm>
            <a:off x="2450592" y="960120"/>
            <a:ext cx="2029968" cy="3931920"/>
          </a:xfrm>
          <a:prstGeom prst="rect">
            <a:avLst/>
          </a:prstGeom>
          <a:solidFill>
            <a:srgbClr val="0D1017"/>
          </a:solidFill>
          <a:ln/>
        </p:spPr>
      </p:sp>
      <p:sp>
        <p:nvSpPr>
          <p:cNvPr id="14" name="Shape 12"/>
          <p:cNvSpPr/>
          <p:nvPr/>
        </p:nvSpPr>
        <p:spPr>
          <a:xfrm>
            <a:off x="2450592" y="960120"/>
            <a:ext cx="2029968" cy="36576"/>
          </a:xfrm>
          <a:prstGeom prst="rect">
            <a:avLst/>
          </a:prstGeom>
          <a:solidFill>
            <a:srgbClr val="8A6A20"/>
          </a:solidFill>
          <a:ln/>
        </p:spPr>
      </p:sp>
      <p:sp>
        <p:nvSpPr>
          <p:cNvPr id="15" name="Text 13"/>
          <p:cNvSpPr/>
          <p:nvPr/>
        </p:nvSpPr>
        <p:spPr>
          <a:xfrm>
            <a:off x="2450592" y="1042416"/>
            <a:ext cx="2029968" cy="201168"/>
          </a:xfrm>
          <a:prstGeom prst="rect">
            <a:avLst/>
          </a:prstGeom>
          <a:noFill/>
          <a:ln/>
        </p:spPr>
        <p:txBody>
          <a:bodyPr wrap="square" rtlCol="0" anchor="ctr"/>
          <a:lstStyle/>
          <a:p>
            <a:pPr algn="ctr" indent="0" marL="0">
              <a:buNone/>
            </a:pPr>
            <a:r>
              <a:rPr lang="en-US" sz="850" spc="100" kern="0" dirty="0">
                <a:solidFill>
                  <a:srgbClr val="8A6A20"/>
                </a:solidFill>
                <a:latin typeface="Calibri" pitchFamily="34" charset="0"/>
                <a:ea typeface="Calibri" pitchFamily="34" charset="-122"/>
                <a:cs typeface="Calibri" pitchFamily="34" charset="-120"/>
              </a:rPr>
              <a:t>PHASE 1</a:t>
            </a:r>
            <a:endParaRPr lang="en-US" sz="850" dirty="0"/>
          </a:p>
        </p:txBody>
      </p:sp>
      <p:sp>
        <p:nvSpPr>
          <p:cNvPr id="16" name="Text 14"/>
          <p:cNvSpPr/>
          <p:nvPr/>
        </p:nvSpPr>
        <p:spPr>
          <a:xfrm>
            <a:off x="2450592" y="1243584"/>
            <a:ext cx="2029968" cy="219456"/>
          </a:xfrm>
          <a:prstGeom prst="rect">
            <a:avLst/>
          </a:prstGeom>
          <a:noFill/>
          <a:ln/>
        </p:spPr>
        <p:txBody>
          <a:bodyPr wrap="square" rtlCol="0" anchor="ctr"/>
          <a:lstStyle/>
          <a:p>
            <a:pPr algn="ctr" indent="0" marL="0">
              <a:buNone/>
            </a:pPr>
            <a:r>
              <a:rPr lang="en-US" sz="900" dirty="0">
                <a:solidFill>
                  <a:srgbClr val="6B6048"/>
                </a:solidFill>
                <a:latin typeface="Calibri" pitchFamily="34" charset="0"/>
                <a:ea typeface="Calibri" pitchFamily="34" charset="-122"/>
                <a:cs typeface="Calibri" pitchFamily="34" charset="-120"/>
              </a:rPr>
              <a:t>Mois 3–6</a:t>
            </a:r>
            <a:endParaRPr lang="en-US" sz="900" dirty="0"/>
          </a:p>
        </p:txBody>
      </p:sp>
      <p:sp>
        <p:nvSpPr>
          <p:cNvPr id="17" name="Text 15"/>
          <p:cNvSpPr/>
          <p:nvPr/>
        </p:nvSpPr>
        <p:spPr>
          <a:xfrm>
            <a:off x="2450592" y="1481328"/>
            <a:ext cx="2029968" cy="347472"/>
          </a:xfrm>
          <a:prstGeom prst="rect">
            <a:avLst/>
          </a:prstGeom>
          <a:noFill/>
          <a:ln/>
        </p:spPr>
        <p:txBody>
          <a:bodyPr wrap="square" rtlCol="0" anchor="ctr"/>
          <a:lstStyle/>
          <a:p>
            <a:pPr algn="ctr" indent="0" marL="0">
              <a:buNone/>
            </a:pPr>
            <a:r>
              <a:rPr lang="en-US" sz="1400" b="1" dirty="0">
                <a:solidFill>
                  <a:srgbClr val="E8E4D9"/>
                </a:solidFill>
                <a:latin typeface="Georgia" pitchFamily="34" charset="0"/>
                <a:ea typeface="Georgia" pitchFamily="34" charset="-122"/>
                <a:cs typeface="Georgia" pitchFamily="34" charset="-120"/>
              </a:rPr>
              <a:t>Lancement Beta</a:t>
            </a:r>
            <a:endParaRPr lang="en-US" sz="1400" dirty="0"/>
          </a:p>
        </p:txBody>
      </p:sp>
      <p:sp>
        <p:nvSpPr>
          <p:cNvPr id="18" name="Shape 16"/>
          <p:cNvSpPr/>
          <p:nvPr/>
        </p:nvSpPr>
        <p:spPr>
          <a:xfrm>
            <a:off x="2633472" y="1874520"/>
            <a:ext cx="1664208" cy="0"/>
          </a:xfrm>
          <a:prstGeom prst="line">
            <a:avLst/>
          </a:prstGeom>
          <a:noFill/>
          <a:ln w="6350">
            <a:solidFill>
              <a:srgbClr val="8A6A20"/>
            </a:solidFill>
            <a:prstDash val="solid"/>
          </a:ln>
        </p:spPr>
      </p:sp>
      <p:sp>
        <p:nvSpPr>
          <p:cNvPr id="19" name="Text 17"/>
          <p:cNvSpPr/>
          <p:nvPr/>
        </p:nvSpPr>
        <p:spPr>
          <a:xfrm>
            <a:off x="2560320" y="1965960"/>
            <a:ext cx="1810512" cy="2852928"/>
          </a:xfrm>
          <a:prstGeom prst="rect">
            <a:avLst/>
          </a:prstGeom>
          <a:noFill/>
          <a:ln/>
        </p:spPr>
        <p:txBody>
          <a:bodyPr wrap="square" rtlCol="0" anchor="t"/>
          <a:lstStyle/>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Plateforme web &amp; PWA mobile opérationnelle</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Données marchés en direct activées</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50 articles fondateurs publiés</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Académie Financière modules 1–3 live</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Premiers annonceurs pilotes signés</a:t>
            </a:r>
            <a:endParaRPr lang="en-US" sz="950" dirty="0"/>
          </a:p>
        </p:txBody>
      </p:sp>
      <p:sp>
        <p:nvSpPr>
          <p:cNvPr id="20" name="Shape 18"/>
          <p:cNvSpPr/>
          <p:nvPr/>
        </p:nvSpPr>
        <p:spPr>
          <a:xfrm>
            <a:off x="4626864" y="960120"/>
            <a:ext cx="2029968" cy="3931920"/>
          </a:xfrm>
          <a:prstGeom prst="rect">
            <a:avLst/>
          </a:prstGeom>
          <a:solidFill>
            <a:srgbClr val="0D1017"/>
          </a:solidFill>
          <a:ln/>
        </p:spPr>
      </p:sp>
      <p:sp>
        <p:nvSpPr>
          <p:cNvPr id="21" name="Shape 19"/>
          <p:cNvSpPr/>
          <p:nvPr/>
        </p:nvSpPr>
        <p:spPr>
          <a:xfrm>
            <a:off x="4626864" y="960120"/>
            <a:ext cx="2029968" cy="36576"/>
          </a:xfrm>
          <a:prstGeom prst="rect">
            <a:avLst/>
          </a:prstGeom>
          <a:solidFill>
            <a:srgbClr val="C9A84C"/>
          </a:solidFill>
          <a:ln/>
        </p:spPr>
      </p:sp>
      <p:sp>
        <p:nvSpPr>
          <p:cNvPr id="22" name="Text 20"/>
          <p:cNvSpPr/>
          <p:nvPr/>
        </p:nvSpPr>
        <p:spPr>
          <a:xfrm>
            <a:off x="4626864" y="1042416"/>
            <a:ext cx="2029968" cy="201168"/>
          </a:xfrm>
          <a:prstGeom prst="rect">
            <a:avLst/>
          </a:prstGeom>
          <a:noFill/>
          <a:ln/>
        </p:spPr>
        <p:txBody>
          <a:bodyPr wrap="square" rtlCol="0" anchor="ctr"/>
          <a:lstStyle/>
          <a:p>
            <a:pPr algn="ctr" indent="0" marL="0">
              <a:buNone/>
            </a:pPr>
            <a:r>
              <a:rPr lang="en-US" sz="850" spc="100" kern="0" dirty="0">
                <a:solidFill>
                  <a:srgbClr val="C9A84C"/>
                </a:solidFill>
                <a:latin typeface="Calibri" pitchFamily="34" charset="0"/>
                <a:ea typeface="Calibri" pitchFamily="34" charset="-122"/>
                <a:cs typeface="Calibri" pitchFamily="34" charset="-120"/>
              </a:rPr>
              <a:t>PHASE 2</a:t>
            </a:r>
            <a:endParaRPr lang="en-US" sz="850" dirty="0"/>
          </a:p>
        </p:txBody>
      </p:sp>
      <p:sp>
        <p:nvSpPr>
          <p:cNvPr id="23" name="Text 21"/>
          <p:cNvSpPr/>
          <p:nvPr/>
        </p:nvSpPr>
        <p:spPr>
          <a:xfrm>
            <a:off x="4626864" y="1243584"/>
            <a:ext cx="2029968" cy="219456"/>
          </a:xfrm>
          <a:prstGeom prst="rect">
            <a:avLst/>
          </a:prstGeom>
          <a:noFill/>
          <a:ln/>
        </p:spPr>
        <p:txBody>
          <a:bodyPr wrap="square" rtlCol="0" anchor="ctr"/>
          <a:lstStyle/>
          <a:p>
            <a:pPr algn="ctr" indent="0" marL="0">
              <a:buNone/>
            </a:pPr>
            <a:r>
              <a:rPr lang="en-US" sz="900" dirty="0">
                <a:solidFill>
                  <a:srgbClr val="6B6048"/>
                </a:solidFill>
                <a:latin typeface="Calibri" pitchFamily="34" charset="0"/>
                <a:ea typeface="Calibri" pitchFamily="34" charset="-122"/>
                <a:cs typeface="Calibri" pitchFamily="34" charset="-120"/>
              </a:rPr>
              <a:t>Mois 7–12</a:t>
            </a:r>
            <a:endParaRPr lang="en-US" sz="900" dirty="0"/>
          </a:p>
        </p:txBody>
      </p:sp>
      <p:sp>
        <p:nvSpPr>
          <p:cNvPr id="24" name="Text 22"/>
          <p:cNvSpPr/>
          <p:nvPr/>
        </p:nvSpPr>
        <p:spPr>
          <a:xfrm>
            <a:off x="4626864" y="1481328"/>
            <a:ext cx="2029968" cy="347472"/>
          </a:xfrm>
          <a:prstGeom prst="rect">
            <a:avLst/>
          </a:prstGeom>
          <a:noFill/>
          <a:ln/>
        </p:spPr>
        <p:txBody>
          <a:bodyPr wrap="square" rtlCol="0" anchor="ctr"/>
          <a:lstStyle/>
          <a:p>
            <a:pPr algn="ctr" indent="0" marL="0">
              <a:buNone/>
            </a:pPr>
            <a:r>
              <a:rPr lang="en-US" sz="1400" b="1" dirty="0">
                <a:solidFill>
                  <a:srgbClr val="E8E4D9"/>
                </a:solidFill>
                <a:latin typeface="Georgia" pitchFamily="34" charset="0"/>
                <a:ea typeface="Georgia" pitchFamily="34" charset="-122"/>
                <a:cs typeface="Georgia" pitchFamily="34" charset="-120"/>
              </a:rPr>
              <a:t>Croissance</a:t>
            </a:r>
            <a:endParaRPr lang="en-US" sz="1400" dirty="0"/>
          </a:p>
        </p:txBody>
      </p:sp>
      <p:sp>
        <p:nvSpPr>
          <p:cNvPr id="25" name="Shape 23"/>
          <p:cNvSpPr/>
          <p:nvPr/>
        </p:nvSpPr>
        <p:spPr>
          <a:xfrm>
            <a:off x="4809744" y="1874520"/>
            <a:ext cx="1664208" cy="0"/>
          </a:xfrm>
          <a:prstGeom prst="line">
            <a:avLst/>
          </a:prstGeom>
          <a:noFill/>
          <a:ln w="6350">
            <a:solidFill>
              <a:srgbClr val="C9A84C"/>
            </a:solidFill>
            <a:prstDash val="solid"/>
          </a:ln>
        </p:spPr>
      </p:sp>
      <p:sp>
        <p:nvSpPr>
          <p:cNvPr id="26" name="Text 24"/>
          <p:cNvSpPr/>
          <p:nvPr/>
        </p:nvSpPr>
        <p:spPr>
          <a:xfrm>
            <a:off x="4736592" y="1965960"/>
            <a:ext cx="1810512" cy="2852928"/>
          </a:xfrm>
          <a:prstGeom prst="rect">
            <a:avLst/>
          </a:prstGeom>
          <a:noFill/>
          <a:ln/>
        </p:spPr>
        <p:txBody>
          <a:bodyPr wrap="square" rtlCol="0" anchor="t"/>
          <a:lstStyle/>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Tableau d'opportunités complet</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5 annonceurs premium en portefeuille</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50 000 utilisateurs uniques / mois</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Newsletter 10 000 abonnés</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Abonnements Capital &amp; Élite lancés</a:t>
            </a:r>
            <a:endParaRPr lang="en-US" sz="950" dirty="0"/>
          </a:p>
        </p:txBody>
      </p:sp>
      <p:sp>
        <p:nvSpPr>
          <p:cNvPr id="27" name="Shape 25"/>
          <p:cNvSpPr/>
          <p:nvPr/>
        </p:nvSpPr>
        <p:spPr>
          <a:xfrm>
            <a:off x="6803136" y="960120"/>
            <a:ext cx="2029968" cy="3931920"/>
          </a:xfrm>
          <a:prstGeom prst="rect">
            <a:avLst/>
          </a:prstGeom>
          <a:solidFill>
            <a:srgbClr val="0D1017"/>
          </a:solidFill>
          <a:ln/>
        </p:spPr>
      </p:sp>
      <p:sp>
        <p:nvSpPr>
          <p:cNvPr id="28" name="Shape 26"/>
          <p:cNvSpPr/>
          <p:nvPr/>
        </p:nvSpPr>
        <p:spPr>
          <a:xfrm>
            <a:off x="6803136" y="960120"/>
            <a:ext cx="2029968" cy="36576"/>
          </a:xfrm>
          <a:prstGeom prst="rect">
            <a:avLst/>
          </a:prstGeom>
          <a:solidFill>
            <a:srgbClr val="4CAF75"/>
          </a:solidFill>
          <a:ln/>
        </p:spPr>
      </p:sp>
      <p:sp>
        <p:nvSpPr>
          <p:cNvPr id="29" name="Text 27"/>
          <p:cNvSpPr/>
          <p:nvPr/>
        </p:nvSpPr>
        <p:spPr>
          <a:xfrm>
            <a:off x="6803136" y="1042416"/>
            <a:ext cx="2029968" cy="201168"/>
          </a:xfrm>
          <a:prstGeom prst="rect">
            <a:avLst/>
          </a:prstGeom>
          <a:noFill/>
          <a:ln/>
        </p:spPr>
        <p:txBody>
          <a:bodyPr wrap="square" rtlCol="0" anchor="ctr"/>
          <a:lstStyle/>
          <a:p>
            <a:pPr algn="ctr" indent="0" marL="0">
              <a:buNone/>
            </a:pPr>
            <a:r>
              <a:rPr lang="en-US" sz="850" spc="100" kern="0" dirty="0">
                <a:solidFill>
                  <a:srgbClr val="4CAF75"/>
                </a:solidFill>
                <a:latin typeface="Calibri" pitchFamily="34" charset="0"/>
                <a:ea typeface="Calibri" pitchFamily="34" charset="-122"/>
                <a:cs typeface="Calibri" pitchFamily="34" charset="-120"/>
              </a:rPr>
              <a:t>PHASE 3</a:t>
            </a:r>
            <a:endParaRPr lang="en-US" sz="850" dirty="0"/>
          </a:p>
        </p:txBody>
      </p:sp>
      <p:sp>
        <p:nvSpPr>
          <p:cNvPr id="30" name="Text 28"/>
          <p:cNvSpPr/>
          <p:nvPr/>
        </p:nvSpPr>
        <p:spPr>
          <a:xfrm>
            <a:off x="6803136" y="1243584"/>
            <a:ext cx="2029968" cy="219456"/>
          </a:xfrm>
          <a:prstGeom prst="rect">
            <a:avLst/>
          </a:prstGeom>
          <a:noFill/>
          <a:ln/>
        </p:spPr>
        <p:txBody>
          <a:bodyPr wrap="square" rtlCol="0" anchor="ctr"/>
          <a:lstStyle/>
          <a:p>
            <a:pPr algn="ctr" indent="0" marL="0">
              <a:buNone/>
            </a:pPr>
            <a:r>
              <a:rPr lang="en-US" sz="900" dirty="0">
                <a:solidFill>
                  <a:srgbClr val="6B6048"/>
                </a:solidFill>
                <a:latin typeface="Calibri" pitchFamily="34" charset="0"/>
                <a:ea typeface="Calibri" pitchFamily="34" charset="-122"/>
                <a:cs typeface="Calibri" pitchFamily="34" charset="-120"/>
              </a:rPr>
              <a:t>Mois 13–18</a:t>
            </a:r>
            <a:endParaRPr lang="en-US" sz="900" dirty="0"/>
          </a:p>
        </p:txBody>
      </p:sp>
      <p:sp>
        <p:nvSpPr>
          <p:cNvPr id="31" name="Text 29"/>
          <p:cNvSpPr/>
          <p:nvPr/>
        </p:nvSpPr>
        <p:spPr>
          <a:xfrm>
            <a:off x="6803136" y="1481328"/>
            <a:ext cx="2029968" cy="347472"/>
          </a:xfrm>
          <a:prstGeom prst="rect">
            <a:avLst/>
          </a:prstGeom>
          <a:noFill/>
          <a:ln/>
        </p:spPr>
        <p:txBody>
          <a:bodyPr wrap="square" rtlCol="0" anchor="ctr"/>
          <a:lstStyle/>
          <a:p>
            <a:pPr algn="ctr" indent="0" marL="0">
              <a:buNone/>
            </a:pPr>
            <a:r>
              <a:rPr lang="en-US" sz="1400" b="1" dirty="0">
                <a:solidFill>
                  <a:srgbClr val="E8E4D9"/>
                </a:solidFill>
                <a:latin typeface="Georgia" pitchFamily="34" charset="0"/>
                <a:ea typeface="Georgia" pitchFamily="34" charset="-122"/>
                <a:cs typeface="Georgia" pitchFamily="34" charset="-120"/>
              </a:rPr>
              <a:t>Expansion CEMAC</a:t>
            </a:r>
            <a:endParaRPr lang="en-US" sz="1400" dirty="0"/>
          </a:p>
        </p:txBody>
      </p:sp>
      <p:sp>
        <p:nvSpPr>
          <p:cNvPr id="32" name="Shape 30"/>
          <p:cNvSpPr/>
          <p:nvPr/>
        </p:nvSpPr>
        <p:spPr>
          <a:xfrm>
            <a:off x="6986016" y="1874520"/>
            <a:ext cx="1664208" cy="0"/>
          </a:xfrm>
          <a:prstGeom prst="line">
            <a:avLst/>
          </a:prstGeom>
          <a:noFill/>
          <a:ln w="6350">
            <a:solidFill>
              <a:srgbClr val="4CAF75"/>
            </a:solidFill>
            <a:prstDash val="solid"/>
          </a:ln>
        </p:spPr>
      </p:sp>
      <p:sp>
        <p:nvSpPr>
          <p:cNvPr id="33" name="Text 31"/>
          <p:cNvSpPr/>
          <p:nvPr/>
        </p:nvSpPr>
        <p:spPr>
          <a:xfrm>
            <a:off x="6912864" y="1965960"/>
            <a:ext cx="1810512" cy="2852928"/>
          </a:xfrm>
          <a:prstGeom prst="rect">
            <a:avLst/>
          </a:prstGeom>
          <a:noFill/>
          <a:ln/>
        </p:spPr>
        <p:txBody>
          <a:bodyPr wrap="square" rtlCol="0" anchor="t"/>
          <a:lstStyle/>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Version anglophone active</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Extension aux 5 autres pays CEMAC</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Partenariat institutionnel BEAC / AFD</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200 000 utilisateurs / mois</a:t>
            </a:r>
            <a:endParaRPr lang="en-US" sz="950" dirty="0"/>
          </a:p>
          <a:p>
            <a:pPr marL="342900" indent="-342900">
              <a:buSzPct val="100000"/>
              <a:buChar char="•"/>
            </a:pPr>
            <a:r>
              <a:rPr lang="en-US" sz="950" dirty="0">
                <a:solidFill>
                  <a:srgbClr val="A89F8A"/>
                </a:solidFill>
                <a:latin typeface="Calibri" pitchFamily="34" charset="0"/>
                <a:ea typeface="Calibri" pitchFamily="34" charset="-122"/>
                <a:cs typeface="Calibri" pitchFamily="34" charset="-120"/>
              </a:rPr>
              <a:t>Rentabilité EBITDA positive</a:t>
            </a:r>
            <a:endParaRPr lang="en-US" sz="950" dirty="0"/>
          </a:p>
        </p:txBody>
      </p:sp>
      <p:sp>
        <p:nvSpPr>
          <p:cNvPr id="34" name="Text 32"/>
          <p:cNvSpPr/>
          <p:nvPr/>
        </p:nvSpPr>
        <p:spPr>
          <a:xfrm>
            <a:off x="8732520" y="4800600"/>
            <a:ext cx="365760" cy="228600"/>
          </a:xfrm>
          <a:prstGeom prst="rect">
            <a:avLst/>
          </a:prstGeom>
          <a:noFill/>
          <a:ln/>
        </p:spPr>
        <p:txBody>
          <a:bodyPr wrap="square" rtlCol="0" anchor="ctr"/>
          <a:lstStyle/>
          <a:p>
            <a:pPr indent="0" marL="0">
              <a:buNone/>
            </a:pPr>
            <a:r>
              <a:rPr lang="en-US" sz="900" dirty="0">
                <a:solidFill>
                  <a:srgbClr val="6B6048"/>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A0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017"/>
          </a:solidFill>
          <a:ln/>
        </p:spPr>
      </p:sp>
      <p:sp>
        <p:nvSpPr>
          <p:cNvPr id="3" name="Shape 1"/>
          <p:cNvSpPr/>
          <p:nvPr/>
        </p:nvSpPr>
        <p:spPr>
          <a:xfrm>
            <a:off x="0" y="822960"/>
            <a:ext cx="9144000" cy="36576"/>
          </a:xfrm>
          <a:prstGeom prst="rect">
            <a:avLst/>
          </a:prstGeom>
          <a:solidFill>
            <a:srgbClr val="C9A84C"/>
          </a:solidFill>
          <a:ln/>
        </p:spPr>
      </p:sp>
      <p:sp>
        <p:nvSpPr>
          <p:cNvPr id="4" name="Text 2"/>
          <p:cNvSpPr/>
          <p:nvPr/>
        </p:nvSpPr>
        <p:spPr>
          <a:xfrm>
            <a:off x="411480" y="128016"/>
            <a:ext cx="8229600" cy="256032"/>
          </a:xfrm>
          <a:prstGeom prst="rect">
            <a:avLst/>
          </a:prstGeom>
          <a:noFill/>
          <a:ln/>
        </p:spPr>
        <p:txBody>
          <a:bodyPr wrap="square" rtlCol="0" anchor="ctr"/>
          <a:lstStyle/>
          <a:p>
            <a:pPr indent="0" marL="0">
              <a:buNone/>
            </a:pPr>
            <a:r>
              <a:rPr lang="en-US" sz="900" spc="400" kern="0" dirty="0">
                <a:solidFill>
                  <a:srgbClr val="8A6A20"/>
                </a:solidFill>
                <a:latin typeface="Calibri" pitchFamily="34" charset="0"/>
                <a:ea typeface="Calibri" pitchFamily="34" charset="-122"/>
                <a:cs typeface="Calibri" pitchFamily="34" charset="-120"/>
              </a:rPr>
              <a:t>STRUCTURE ÉDITORIALE</a:t>
            </a:r>
            <a:endParaRPr lang="en-US" sz="900" dirty="0"/>
          </a:p>
        </p:txBody>
      </p:sp>
      <p:sp>
        <p:nvSpPr>
          <p:cNvPr id="5" name="Text 3"/>
          <p:cNvSpPr/>
          <p:nvPr/>
        </p:nvSpPr>
        <p:spPr>
          <a:xfrm>
            <a:off x="411480" y="402336"/>
            <a:ext cx="8229600" cy="347472"/>
          </a:xfrm>
          <a:prstGeom prst="rect">
            <a:avLst/>
          </a:prstGeom>
          <a:noFill/>
          <a:ln/>
        </p:spPr>
        <p:txBody>
          <a:bodyPr wrap="square" rtlCol="0" anchor="ctr"/>
          <a:lstStyle/>
          <a:p>
            <a:pPr indent="0" marL="0">
              <a:buNone/>
            </a:pPr>
            <a:r>
              <a:rPr lang="en-US" sz="2000" b="1" dirty="0">
                <a:solidFill>
                  <a:srgbClr val="E8E4D9"/>
                </a:solidFill>
                <a:latin typeface="Georgia" pitchFamily="34" charset="0"/>
                <a:ea typeface="Georgia" pitchFamily="34" charset="-122"/>
                <a:cs typeface="Georgia" pitchFamily="34" charset="-120"/>
              </a:rPr>
              <a:t>Six Profils Clés — Autorité Éditoriale, Rigueur Analytique</a:t>
            </a:r>
            <a:endParaRPr lang="en-US" sz="2000" dirty="0"/>
          </a:p>
        </p:txBody>
      </p:sp>
      <p:sp>
        <p:nvSpPr>
          <p:cNvPr id="6" name="Shape 4"/>
          <p:cNvSpPr/>
          <p:nvPr/>
        </p:nvSpPr>
        <p:spPr>
          <a:xfrm>
            <a:off x="274320" y="960120"/>
            <a:ext cx="2743200" cy="1828800"/>
          </a:xfrm>
          <a:prstGeom prst="rect">
            <a:avLst/>
          </a:prstGeom>
          <a:solidFill>
            <a:srgbClr val="0D1017"/>
          </a:solidFill>
          <a:ln/>
        </p:spPr>
      </p:sp>
      <p:sp>
        <p:nvSpPr>
          <p:cNvPr id="7" name="Shape 5"/>
          <p:cNvSpPr/>
          <p:nvPr/>
        </p:nvSpPr>
        <p:spPr>
          <a:xfrm>
            <a:off x="274320" y="960120"/>
            <a:ext cx="292608" cy="292608"/>
          </a:xfrm>
          <a:prstGeom prst="rect">
            <a:avLst/>
          </a:prstGeom>
          <a:solidFill>
            <a:srgbClr val="C9A84C"/>
          </a:solidFill>
          <a:ln/>
        </p:spPr>
      </p:sp>
      <p:sp>
        <p:nvSpPr>
          <p:cNvPr id="8" name="Text 6"/>
          <p:cNvSpPr/>
          <p:nvPr/>
        </p:nvSpPr>
        <p:spPr>
          <a:xfrm>
            <a:off x="658368" y="1005840"/>
            <a:ext cx="2249424" cy="292608"/>
          </a:xfrm>
          <a:prstGeom prst="rect">
            <a:avLst/>
          </a:prstGeom>
          <a:noFill/>
          <a:ln/>
        </p:spPr>
        <p:txBody>
          <a:bodyPr wrap="square" rtlCol="0" anchor="ctr"/>
          <a:lstStyle/>
          <a:p>
            <a:pPr indent="0" marL="0">
              <a:buNone/>
            </a:pPr>
            <a:r>
              <a:rPr lang="en-US" sz="1100" b="1" dirty="0">
                <a:solidFill>
                  <a:srgbClr val="E8E4D9"/>
                </a:solidFill>
                <a:latin typeface="Calibri" pitchFamily="34" charset="0"/>
                <a:ea typeface="Calibri" pitchFamily="34" charset="-122"/>
                <a:cs typeface="Calibri" pitchFamily="34" charset="-120"/>
              </a:rPr>
              <a:t>Directeur(rice) Éditorial(e)</a:t>
            </a:r>
            <a:endParaRPr lang="en-US" sz="1100" dirty="0"/>
          </a:p>
        </p:txBody>
      </p:sp>
      <p:sp>
        <p:nvSpPr>
          <p:cNvPr id="9" name="Shape 7"/>
          <p:cNvSpPr/>
          <p:nvPr/>
        </p:nvSpPr>
        <p:spPr>
          <a:xfrm>
            <a:off x="384048" y="1362456"/>
            <a:ext cx="2487168" cy="0"/>
          </a:xfrm>
          <a:prstGeom prst="line">
            <a:avLst/>
          </a:prstGeom>
          <a:noFill/>
          <a:ln w="6350">
            <a:solidFill>
              <a:srgbClr val="8A6A20"/>
            </a:solidFill>
            <a:prstDash val="solid"/>
          </a:ln>
        </p:spPr>
      </p:sp>
      <p:sp>
        <p:nvSpPr>
          <p:cNvPr id="10" name="Text 8"/>
          <p:cNvSpPr/>
          <p:nvPr/>
        </p:nvSpPr>
        <p:spPr>
          <a:xfrm>
            <a:off x="384048" y="1453896"/>
            <a:ext cx="2523744" cy="1234440"/>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10+ ans presse économique internationale. Garant de la ligne éditoriale. Capacité à recruter et former une rédaction de rang Bloomberg.</a:t>
            </a:r>
            <a:endParaRPr lang="en-US" sz="1000" dirty="0"/>
          </a:p>
        </p:txBody>
      </p:sp>
      <p:sp>
        <p:nvSpPr>
          <p:cNvPr id="11" name="Shape 9"/>
          <p:cNvSpPr/>
          <p:nvPr/>
        </p:nvSpPr>
        <p:spPr>
          <a:xfrm>
            <a:off x="3154680" y="960120"/>
            <a:ext cx="2743200" cy="1828800"/>
          </a:xfrm>
          <a:prstGeom prst="rect">
            <a:avLst/>
          </a:prstGeom>
          <a:solidFill>
            <a:srgbClr val="0D1017"/>
          </a:solidFill>
          <a:ln/>
        </p:spPr>
      </p:sp>
      <p:sp>
        <p:nvSpPr>
          <p:cNvPr id="12" name="Shape 10"/>
          <p:cNvSpPr/>
          <p:nvPr/>
        </p:nvSpPr>
        <p:spPr>
          <a:xfrm>
            <a:off x="3154680" y="960120"/>
            <a:ext cx="292608" cy="292608"/>
          </a:xfrm>
          <a:prstGeom prst="rect">
            <a:avLst/>
          </a:prstGeom>
          <a:solidFill>
            <a:srgbClr val="C9A84C"/>
          </a:solidFill>
          <a:ln/>
        </p:spPr>
      </p:sp>
      <p:sp>
        <p:nvSpPr>
          <p:cNvPr id="13" name="Text 11"/>
          <p:cNvSpPr/>
          <p:nvPr/>
        </p:nvSpPr>
        <p:spPr>
          <a:xfrm>
            <a:off x="3538728" y="1005840"/>
            <a:ext cx="2249424" cy="292608"/>
          </a:xfrm>
          <a:prstGeom prst="rect">
            <a:avLst/>
          </a:prstGeom>
          <a:noFill/>
          <a:ln/>
        </p:spPr>
        <p:txBody>
          <a:bodyPr wrap="square" rtlCol="0" anchor="ctr"/>
          <a:lstStyle/>
          <a:p>
            <a:pPr indent="0" marL="0">
              <a:buNone/>
            </a:pPr>
            <a:r>
              <a:rPr lang="en-US" sz="1100" b="1" dirty="0">
                <a:solidFill>
                  <a:srgbClr val="E8E4D9"/>
                </a:solidFill>
                <a:latin typeface="Calibri" pitchFamily="34" charset="0"/>
                <a:ea typeface="Calibri" pitchFamily="34" charset="-122"/>
                <a:cs typeface="Calibri" pitchFamily="34" charset="-120"/>
              </a:rPr>
              <a:t>Analyste Marchés Senior</a:t>
            </a:r>
            <a:endParaRPr lang="en-US" sz="1100" dirty="0"/>
          </a:p>
        </p:txBody>
      </p:sp>
      <p:sp>
        <p:nvSpPr>
          <p:cNvPr id="14" name="Shape 12"/>
          <p:cNvSpPr/>
          <p:nvPr/>
        </p:nvSpPr>
        <p:spPr>
          <a:xfrm>
            <a:off x="3264408" y="1362456"/>
            <a:ext cx="2487168" cy="0"/>
          </a:xfrm>
          <a:prstGeom prst="line">
            <a:avLst/>
          </a:prstGeom>
          <a:noFill/>
          <a:ln w="6350">
            <a:solidFill>
              <a:srgbClr val="8A6A20"/>
            </a:solidFill>
            <a:prstDash val="solid"/>
          </a:ln>
        </p:spPr>
      </p:sp>
      <p:sp>
        <p:nvSpPr>
          <p:cNvPr id="15" name="Text 13"/>
          <p:cNvSpPr/>
          <p:nvPr/>
        </p:nvSpPr>
        <p:spPr>
          <a:xfrm>
            <a:off x="3264408" y="1453896"/>
            <a:ext cx="2523744" cy="1234440"/>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CFA ou équivalent. Couvre actions, obligations, devises. Auteur des briefings quotidiens et rapports hebdomadaires.</a:t>
            </a:r>
            <a:endParaRPr lang="en-US" sz="1000" dirty="0"/>
          </a:p>
        </p:txBody>
      </p:sp>
      <p:sp>
        <p:nvSpPr>
          <p:cNvPr id="16" name="Shape 14"/>
          <p:cNvSpPr/>
          <p:nvPr/>
        </p:nvSpPr>
        <p:spPr>
          <a:xfrm>
            <a:off x="6035040" y="960120"/>
            <a:ext cx="2743200" cy="1828800"/>
          </a:xfrm>
          <a:prstGeom prst="rect">
            <a:avLst/>
          </a:prstGeom>
          <a:solidFill>
            <a:srgbClr val="0D1017"/>
          </a:solidFill>
          <a:ln/>
        </p:spPr>
      </p:sp>
      <p:sp>
        <p:nvSpPr>
          <p:cNvPr id="17" name="Shape 15"/>
          <p:cNvSpPr/>
          <p:nvPr/>
        </p:nvSpPr>
        <p:spPr>
          <a:xfrm>
            <a:off x="6035040" y="960120"/>
            <a:ext cx="292608" cy="292608"/>
          </a:xfrm>
          <a:prstGeom prst="rect">
            <a:avLst/>
          </a:prstGeom>
          <a:solidFill>
            <a:srgbClr val="C9A84C"/>
          </a:solidFill>
          <a:ln/>
        </p:spPr>
      </p:sp>
      <p:sp>
        <p:nvSpPr>
          <p:cNvPr id="18" name="Text 16"/>
          <p:cNvSpPr/>
          <p:nvPr/>
        </p:nvSpPr>
        <p:spPr>
          <a:xfrm>
            <a:off x="6419088" y="1005840"/>
            <a:ext cx="2249424" cy="292608"/>
          </a:xfrm>
          <a:prstGeom prst="rect">
            <a:avLst/>
          </a:prstGeom>
          <a:noFill/>
          <a:ln/>
        </p:spPr>
        <p:txBody>
          <a:bodyPr wrap="square" rtlCol="0" anchor="ctr"/>
          <a:lstStyle/>
          <a:p>
            <a:pPr indent="0" marL="0">
              <a:buNone/>
            </a:pPr>
            <a:r>
              <a:rPr lang="en-US" sz="1100" b="1" dirty="0">
                <a:solidFill>
                  <a:srgbClr val="E8E4D9"/>
                </a:solidFill>
                <a:latin typeface="Calibri" pitchFamily="34" charset="0"/>
                <a:ea typeface="Calibri" pitchFamily="34" charset="-122"/>
                <a:cs typeface="Calibri" pitchFamily="34" charset="-120"/>
              </a:rPr>
              <a:t>Analyste Matières Premières</a:t>
            </a:r>
            <a:endParaRPr lang="en-US" sz="1100" dirty="0"/>
          </a:p>
        </p:txBody>
      </p:sp>
      <p:sp>
        <p:nvSpPr>
          <p:cNvPr id="19" name="Shape 17"/>
          <p:cNvSpPr/>
          <p:nvPr/>
        </p:nvSpPr>
        <p:spPr>
          <a:xfrm>
            <a:off x="6144768" y="1362456"/>
            <a:ext cx="2487168" cy="0"/>
          </a:xfrm>
          <a:prstGeom prst="line">
            <a:avLst/>
          </a:prstGeom>
          <a:noFill/>
          <a:ln w="6350">
            <a:solidFill>
              <a:srgbClr val="8A6A20"/>
            </a:solidFill>
            <a:prstDash val="solid"/>
          </a:ln>
        </p:spPr>
      </p:sp>
      <p:sp>
        <p:nvSpPr>
          <p:cNvPr id="20" name="Text 18"/>
          <p:cNvSpPr/>
          <p:nvPr/>
        </p:nvSpPr>
        <p:spPr>
          <a:xfrm>
            <a:off x="6144768" y="1453896"/>
            <a:ext cx="2523744" cy="1234440"/>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Spécialiste Afrique. Cacao, pétrole, cobalt, métaux. Connaissance terrain du marché CEMAC et BRVM.</a:t>
            </a:r>
            <a:endParaRPr lang="en-US" sz="1000" dirty="0"/>
          </a:p>
        </p:txBody>
      </p:sp>
      <p:sp>
        <p:nvSpPr>
          <p:cNvPr id="21" name="Shape 19"/>
          <p:cNvSpPr/>
          <p:nvPr/>
        </p:nvSpPr>
        <p:spPr>
          <a:xfrm>
            <a:off x="274320" y="2926080"/>
            <a:ext cx="2743200" cy="1828800"/>
          </a:xfrm>
          <a:prstGeom prst="rect">
            <a:avLst/>
          </a:prstGeom>
          <a:solidFill>
            <a:srgbClr val="0D1017"/>
          </a:solidFill>
          <a:ln/>
        </p:spPr>
      </p:sp>
      <p:sp>
        <p:nvSpPr>
          <p:cNvPr id="22" name="Shape 20"/>
          <p:cNvSpPr/>
          <p:nvPr/>
        </p:nvSpPr>
        <p:spPr>
          <a:xfrm>
            <a:off x="274320" y="2926080"/>
            <a:ext cx="292608" cy="292608"/>
          </a:xfrm>
          <a:prstGeom prst="rect">
            <a:avLst/>
          </a:prstGeom>
          <a:solidFill>
            <a:srgbClr val="C9A84C"/>
          </a:solidFill>
          <a:ln/>
        </p:spPr>
      </p:sp>
      <p:sp>
        <p:nvSpPr>
          <p:cNvPr id="23" name="Text 21"/>
          <p:cNvSpPr/>
          <p:nvPr/>
        </p:nvSpPr>
        <p:spPr>
          <a:xfrm>
            <a:off x="658368" y="2971800"/>
            <a:ext cx="2249424" cy="292608"/>
          </a:xfrm>
          <a:prstGeom prst="rect">
            <a:avLst/>
          </a:prstGeom>
          <a:noFill/>
          <a:ln/>
        </p:spPr>
        <p:txBody>
          <a:bodyPr wrap="square" rtlCol="0" anchor="ctr"/>
          <a:lstStyle/>
          <a:p>
            <a:pPr indent="0" marL="0">
              <a:buNone/>
            </a:pPr>
            <a:r>
              <a:rPr lang="en-US" sz="1100" b="1" dirty="0">
                <a:solidFill>
                  <a:srgbClr val="E8E4D9"/>
                </a:solidFill>
                <a:latin typeface="Calibri" pitchFamily="34" charset="0"/>
                <a:ea typeface="Calibri" pitchFamily="34" charset="-122"/>
                <a:cs typeface="Calibri" pitchFamily="34" charset="-120"/>
              </a:rPr>
              <a:t>Journaliste Data &amp; Fintech</a:t>
            </a:r>
            <a:endParaRPr lang="en-US" sz="1100" dirty="0"/>
          </a:p>
        </p:txBody>
      </p:sp>
      <p:sp>
        <p:nvSpPr>
          <p:cNvPr id="24" name="Shape 22"/>
          <p:cNvSpPr/>
          <p:nvPr/>
        </p:nvSpPr>
        <p:spPr>
          <a:xfrm>
            <a:off x="384048" y="3328416"/>
            <a:ext cx="2487168" cy="0"/>
          </a:xfrm>
          <a:prstGeom prst="line">
            <a:avLst/>
          </a:prstGeom>
          <a:noFill/>
          <a:ln w="6350">
            <a:solidFill>
              <a:srgbClr val="8A6A20"/>
            </a:solidFill>
            <a:prstDash val="solid"/>
          </a:ln>
        </p:spPr>
      </p:sp>
      <p:sp>
        <p:nvSpPr>
          <p:cNvPr id="25" name="Text 23"/>
          <p:cNvSpPr/>
          <p:nvPr/>
        </p:nvSpPr>
        <p:spPr>
          <a:xfrm>
            <a:off x="384048" y="3419856"/>
            <a:ext cx="2523744" cy="1234440"/>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Crypto, blockchain, fintech africaine. Bilinguisme FR/EN. Maîtrise des outils de visualisation de données financières.</a:t>
            </a:r>
            <a:endParaRPr lang="en-US" sz="1000" dirty="0"/>
          </a:p>
        </p:txBody>
      </p:sp>
      <p:sp>
        <p:nvSpPr>
          <p:cNvPr id="26" name="Shape 24"/>
          <p:cNvSpPr/>
          <p:nvPr/>
        </p:nvSpPr>
        <p:spPr>
          <a:xfrm>
            <a:off x="3154680" y="2926080"/>
            <a:ext cx="2743200" cy="1828800"/>
          </a:xfrm>
          <a:prstGeom prst="rect">
            <a:avLst/>
          </a:prstGeom>
          <a:solidFill>
            <a:srgbClr val="0D1017"/>
          </a:solidFill>
          <a:ln/>
        </p:spPr>
      </p:sp>
      <p:sp>
        <p:nvSpPr>
          <p:cNvPr id="27" name="Shape 25"/>
          <p:cNvSpPr/>
          <p:nvPr/>
        </p:nvSpPr>
        <p:spPr>
          <a:xfrm>
            <a:off x="3154680" y="2926080"/>
            <a:ext cx="292608" cy="292608"/>
          </a:xfrm>
          <a:prstGeom prst="rect">
            <a:avLst/>
          </a:prstGeom>
          <a:solidFill>
            <a:srgbClr val="C9A84C"/>
          </a:solidFill>
          <a:ln/>
        </p:spPr>
      </p:sp>
      <p:sp>
        <p:nvSpPr>
          <p:cNvPr id="28" name="Text 26"/>
          <p:cNvSpPr/>
          <p:nvPr/>
        </p:nvSpPr>
        <p:spPr>
          <a:xfrm>
            <a:off x="3538728" y="2971800"/>
            <a:ext cx="2249424" cy="292608"/>
          </a:xfrm>
          <a:prstGeom prst="rect">
            <a:avLst/>
          </a:prstGeom>
          <a:noFill/>
          <a:ln/>
        </p:spPr>
        <p:txBody>
          <a:bodyPr wrap="square" rtlCol="0" anchor="ctr"/>
          <a:lstStyle/>
          <a:p>
            <a:pPr indent="0" marL="0">
              <a:buNone/>
            </a:pPr>
            <a:r>
              <a:rPr lang="en-US" sz="1100" b="1" dirty="0">
                <a:solidFill>
                  <a:srgbClr val="E8E4D9"/>
                </a:solidFill>
                <a:latin typeface="Calibri" pitchFamily="34" charset="0"/>
                <a:ea typeface="Calibri" pitchFamily="34" charset="-122"/>
                <a:cs typeface="Calibri" pitchFamily="34" charset="-120"/>
              </a:rPr>
              <a:t>Responsable Conformité</a:t>
            </a:r>
            <a:endParaRPr lang="en-US" sz="1100" dirty="0"/>
          </a:p>
        </p:txBody>
      </p:sp>
      <p:sp>
        <p:nvSpPr>
          <p:cNvPr id="29" name="Shape 27"/>
          <p:cNvSpPr/>
          <p:nvPr/>
        </p:nvSpPr>
        <p:spPr>
          <a:xfrm>
            <a:off x="3264408" y="3328416"/>
            <a:ext cx="2487168" cy="0"/>
          </a:xfrm>
          <a:prstGeom prst="line">
            <a:avLst/>
          </a:prstGeom>
          <a:noFill/>
          <a:ln w="6350">
            <a:solidFill>
              <a:srgbClr val="8A6A20"/>
            </a:solidFill>
            <a:prstDash val="solid"/>
          </a:ln>
        </p:spPr>
      </p:sp>
      <p:sp>
        <p:nvSpPr>
          <p:cNvPr id="30" name="Text 28"/>
          <p:cNvSpPr/>
          <p:nvPr/>
        </p:nvSpPr>
        <p:spPr>
          <a:xfrm>
            <a:off x="3264408" y="3419856"/>
            <a:ext cx="2523744" cy="1234440"/>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Juriste financier. Garant des disclaimers, de la frontière éditoriale/conseil et de la conformité de tous les partenariats.</a:t>
            </a:r>
            <a:endParaRPr lang="en-US" sz="1000" dirty="0"/>
          </a:p>
        </p:txBody>
      </p:sp>
      <p:sp>
        <p:nvSpPr>
          <p:cNvPr id="31" name="Shape 29"/>
          <p:cNvSpPr/>
          <p:nvPr/>
        </p:nvSpPr>
        <p:spPr>
          <a:xfrm>
            <a:off x="6035040" y="2926080"/>
            <a:ext cx="2743200" cy="1828800"/>
          </a:xfrm>
          <a:prstGeom prst="rect">
            <a:avLst/>
          </a:prstGeom>
          <a:solidFill>
            <a:srgbClr val="0D1017"/>
          </a:solidFill>
          <a:ln/>
        </p:spPr>
      </p:sp>
      <p:sp>
        <p:nvSpPr>
          <p:cNvPr id="32" name="Shape 30"/>
          <p:cNvSpPr/>
          <p:nvPr/>
        </p:nvSpPr>
        <p:spPr>
          <a:xfrm>
            <a:off x="6035040" y="2926080"/>
            <a:ext cx="292608" cy="292608"/>
          </a:xfrm>
          <a:prstGeom prst="rect">
            <a:avLst/>
          </a:prstGeom>
          <a:solidFill>
            <a:srgbClr val="C9A84C"/>
          </a:solidFill>
          <a:ln/>
        </p:spPr>
      </p:sp>
      <p:sp>
        <p:nvSpPr>
          <p:cNvPr id="33" name="Text 31"/>
          <p:cNvSpPr/>
          <p:nvPr/>
        </p:nvSpPr>
        <p:spPr>
          <a:xfrm>
            <a:off x="6419088" y="2971800"/>
            <a:ext cx="2249424" cy="292608"/>
          </a:xfrm>
          <a:prstGeom prst="rect">
            <a:avLst/>
          </a:prstGeom>
          <a:noFill/>
          <a:ln/>
        </p:spPr>
        <p:txBody>
          <a:bodyPr wrap="square" rtlCol="0" anchor="ctr"/>
          <a:lstStyle/>
          <a:p>
            <a:pPr indent="0" marL="0">
              <a:buNone/>
            </a:pPr>
            <a:r>
              <a:rPr lang="en-US" sz="1100" b="1" dirty="0">
                <a:solidFill>
                  <a:srgbClr val="E8E4D9"/>
                </a:solidFill>
                <a:latin typeface="Calibri" pitchFamily="34" charset="0"/>
                <a:ea typeface="Calibri" pitchFamily="34" charset="-122"/>
                <a:cs typeface="Calibri" pitchFamily="34" charset="-120"/>
              </a:rPr>
              <a:t>Rédacteur(rice) Bilingue FR/EN</a:t>
            </a:r>
            <a:endParaRPr lang="en-US" sz="1100" dirty="0"/>
          </a:p>
        </p:txBody>
      </p:sp>
      <p:sp>
        <p:nvSpPr>
          <p:cNvPr id="34" name="Shape 32"/>
          <p:cNvSpPr/>
          <p:nvPr/>
        </p:nvSpPr>
        <p:spPr>
          <a:xfrm>
            <a:off x="6144768" y="3328416"/>
            <a:ext cx="2487168" cy="0"/>
          </a:xfrm>
          <a:prstGeom prst="line">
            <a:avLst/>
          </a:prstGeom>
          <a:noFill/>
          <a:ln w="6350">
            <a:solidFill>
              <a:srgbClr val="8A6A20"/>
            </a:solidFill>
            <a:prstDash val="solid"/>
          </a:ln>
        </p:spPr>
      </p:sp>
      <p:sp>
        <p:nvSpPr>
          <p:cNvPr id="35" name="Text 33"/>
          <p:cNvSpPr/>
          <p:nvPr/>
        </p:nvSpPr>
        <p:spPr>
          <a:xfrm>
            <a:off x="6144768" y="3419856"/>
            <a:ext cx="2523744" cy="1234440"/>
          </a:xfrm>
          <a:prstGeom prst="rect">
            <a:avLst/>
          </a:prstGeom>
          <a:noFill/>
          <a:ln/>
        </p:spPr>
        <p:txBody>
          <a:bodyPr wrap="square" rtlCol="0" anchor="t"/>
          <a:lstStyle/>
          <a:p>
            <a:pPr indent="0" marL="0">
              <a:buNone/>
            </a:pPr>
            <a:r>
              <a:rPr lang="en-US" sz="1000" dirty="0">
                <a:solidFill>
                  <a:srgbClr val="A89F8A"/>
                </a:solidFill>
                <a:latin typeface="Calibri" pitchFamily="34" charset="0"/>
                <a:ea typeface="Calibri" pitchFamily="34" charset="-122"/>
                <a:cs typeface="Calibri" pitchFamily="34" charset="-120"/>
              </a:rPr>
              <a:t>Production quotidienne de contenus. Newsletters, synthèses, SEO financier. Interface avec la diaspora anglophone.</a:t>
            </a:r>
            <a:endParaRPr lang="en-US" sz="1000" dirty="0"/>
          </a:p>
        </p:txBody>
      </p:sp>
      <p:sp>
        <p:nvSpPr>
          <p:cNvPr id="36" name="Text 34"/>
          <p:cNvSpPr/>
          <p:nvPr/>
        </p:nvSpPr>
        <p:spPr>
          <a:xfrm>
            <a:off x="8732520" y="4800600"/>
            <a:ext cx="365760" cy="228600"/>
          </a:xfrm>
          <a:prstGeom prst="rect">
            <a:avLst/>
          </a:prstGeom>
          <a:noFill/>
          <a:ln/>
        </p:spPr>
        <p:txBody>
          <a:bodyPr wrap="square" rtlCol="0" anchor="ctr"/>
          <a:lstStyle/>
          <a:p>
            <a:pPr indent="0" marL="0">
              <a:buNone/>
            </a:pPr>
            <a:r>
              <a:rPr lang="en-US" sz="900" dirty="0">
                <a:solidFill>
                  <a:srgbClr val="6B6048"/>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A0E"/>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017"/>
          </a:solidFill>
          <a:ln/>
        </p:spPr>
      </p:sp>
      <p:sp>
        <p:nvSpPr>
          <p:cNvPr id="3" name="Shape 1"/>
          <p:cNvSpPr/>
          <p:nvPr/>
        </p:nvSpPr>
        <p:spPr>
          <a:xfrm>
            <a:off x="0" y="822960"/>
            <a:ext cx="9144000" cy="36576"/>
          </a:xfrm>
          <a:prstGeom prst="rect">
            <a:avLst/>
          </a:prstGeom>
          <a:solidFill>
            <a:srgbClr val="C9A84C"/>
          </a:solidFill>
          <a:ln/>
        </p:spPr>
      </p:sp>
      <p:sp>
        <p:nvSpPr>
          <p:cNvPr id="4" name="Text 2"/>
          <p:cNvSpPr/>
          <p:nvPr/>
        </p:nvSpPr>
        <p:spPr>
          <a:xfrm>
            <a:off x="411480" y="128016"/>
            <a:ext cx="8229600" cy="256032"/>
          </a:xfrm>
          <a:prstGeom prst="rect">
            <a:avLst/>
          </a:prstGeom>
          <a:noFill/>
          <a:ln/>
        </p:spPr>
        <p:txBody>
          <a:bodyPr wrap="square" rtlCol="0" anchor="ctr"/>
          <a:lstStyle/>
          <a:p>
            <a:pPr indent="0" marL="0">
              <a:buNone/>
            </a:pPr>
            <a:r>
              <a:rPr lang="en-US" sz="900" spc="400" kern="0" dirty="0">
                <a:solidFill>
                  <a:srgbClr val="8A6A20"/>
                </a:solidFill>
                <a:latin typeface="Calibri" pitchFamily="34" charset="0"/>
                <a:ea typeface="Calibri" pitchFamily="34" charset="-122"/>
                <a:cs typeface="Calibri" pitchFamily="34" charset="-120"/>
              </a:rPr>
              <a:t>L'ARGUMENT INCONTESTABLE</a:t>
            </a:r>
            <a:endParaRPr lang="en-US" sz="900" dirty="0"/>
          </a:p>
        </p:txBody>
      </p:sp>
      <p:sp>
        <p:nvSpPr>
          <p:cNvPr id="5" name="Text 3"/>
          <p:cNvSpPr/>
          <p:nvPr/>
        </p:nvSpPr>
        <p:spPr>
          <a:xfrm>
            <a:off x="411480" y="402336"/>
            <a:ext cx="8229600" cy="347472"/>
          </a:xfrm>
          <a:prstGeom prst="rect">
            <a:avLst/>
          </a:prstGeom>
          <a:noFill/>
          <a:ln/>
        </p:spPr>
        <p:txBody>
          <a:bodyPr wrap="square" rtlCol="0" anchor="ctr"/>
          <a:lstStyle/>
          <a:p>
            <a:pPr indent="0" marL="0">
              <a:buNone/>
            </a:pPr>
            <a:r>
              <a:rPr lang="en-US" sz="1800" b="1" dirty="0">
                <a:solidFill>
                  <a:srgbClr val="E8E4D9"/>
                </a:solidFill>
                <a:latin typeface="Georgia" pitchFamily="34" charset="0"/>
                <a:ea typeface="Georgia" pitchFamily="34" charset="-122"/>
                <a:cs typeface="Georgia" pitchFamily="34" charset="-120"/>
              </a:rPr>
              <a:t>Ce Projet est Inévitable — La Question est de Savoir Qui le Fera</a:t>
            </a:r>
            <a:endParaRPr lang="en-US" sz="1800" dirty="0"/>
          </a:p>
        </p:txBody>
      </p:sp>
      <p:sp>
        <p:nvSpPr>
          <p:cNvPr id="6" name="Shape 4"/>
          <p:cNvSpPr/>
          <p:nvPr/>
        </p:nvSpPr>
        <p:spPr>
          <a:xfrm>
            <a:off x="320040" y="960120"/>
            <a:ext cx="8503920" cy="804672"/>
          </a:xfrm>
          <a:prstGeom prst="rect">
            <a:avLst/>
          </a:prstGeom>
          <a:solidFill>
            <a:srgbClr val="0D1017"/>
          </a:solidFill>
          <a:ln/>
        </p:spPr>
      </p:sp>
      <p:sp>
        <p:nvSpPr>
          <p:cNvPr id="7" name="Shape 5"/>
          <p:cNvSpPr/>
          <p:nvPr/>
        </p:nvSpPr>
        <p:spPr>
          <a:xfrm>
            <a:off x="320040" y="960120"/>
            <a:ext cx="36576" cy="804672"/>
          </a:xfrm>
          <a:prstGeom prst="rect">
            <a:avLst/>
          </a:prstGeom>
          <a:solidFill>
            <a:srgbClr val="C9A84C"/>
          </a:solidFill>
          <a:ln/>
        </p:spPr>
      </p:sp>
      <p:sp>
        <p:nvSpPr>
          <p:cNvPr id="8" name="Text 6"/>
          <p:cNvSpPr/>
          <p:nvPr/>
        </p:nvSpPr>
        <p:spPr>
          <a:xfrm>
            <a:off x="457200" y="1005840"/>
            <a:ext cx="8275320" cy="731520"/>
          </a:xfrm>
          <a:prstGeom prst="rect">
            <a:avLst/>
          </a:prstGeom>
          <a:noFill/>
          <a:ln/>
        </p:spPr>
        <p:txBody>
          <a:bodyPr wrap="square" rtlCol="0" anchor="ctr"/>
          <a:lstStyle/>
          <a:p>
            <a:pPr indent="0" marL="0">
              <a:buNone/>
            </a:pPr>
            <a:r>
              <a:rPr lang="en-US" sz="1100" i="1" dirty="0">
                <a:solidFill>
                  <a:srgbClr val="E8E4D9"/>
                </a:solidFill>
                <a:latin typeface="Georgia" pitchFamily="34" charset="0"/>
                <a:ea typeface="Georgia" pitchFamily="34" charset="-122"/>
                <a:cs typeface="Georgia" pitchFamily="34" charset="-120"/>
              </a:rPr>
              <a:t>Chaque jour sans SOPECAM Capital, un Camerounais perd une opportunité qu'un investisseur à Paris, Londres ou Dubai saisit. Chaque jour sans cette plateforme, SOPECAM laisse à des acteurs étrangers le marché de l'intelligence financière en Afrique Centrale. Ce projet est l'extension naturelle et inévitable de la mission de SOPECAM à l'ère numérique.</a:t>
            </a:r>
            <a:endParaRPr lang="en-US" sz="1100" dirty="0"/>
          </a:p>
        </p:txBody>
      </p:sp>
      <p:sp>
        <p:nvSpPr>
          <p:cNvPr id="9" name="Shape 7"/>
          <p:cNvSpPr/>
          <p:nvPr/>
        </p:nvSpPr>
        <p:spPr>
          <a:xfrm>
            <a:off x="320040" y="1874520"/>
            <a:ext cx="2743200" cy="2971800"/>
          </a:xfrm>
          <a:prstGeom prst="rect">
            <a:avLst/>
          </a:prstGeom>
          <a:solidFill>
            <a:srgbClr val="0D1017"/>
          </a:solidFill>
          <a:ln/>
        </p:spPr>
      </p:sp>
      <p:sp>
        <p:nvSpPr>
          <p:cNvPr id="10" name="Shape 8"/>
          <p:cNvSpPr/>
          <p:nvPr/>
        </p:nvSpPr>
        <p:spPr>
          <a:xfrm>
            <a:off x="320040" y="1874520"/>
            <a:ext cx="2743200" cy="36576"/>
          </a:xfrm>
          <a:prstGeom prst="rect">
            <a:avLst/>
          </a:prstGeom>
          <a:solidFill>
            <a:srgbClr val="C9A84C"/>
          </a:solidFill>
          <a:ln/>
        </p:spPr>
      </p:sp>
      <p:sp>
        <p:nvSpPr>
          <p:cNvPr id="11" name="Text 9"/>
          <p:cNvSpPr/>
          <p:nvPr/>
        </p:nvSpPr>
        <p:spPr>
          <a:xfrm>
            <a:off x="429768" y="1956816"/>
            <a:ext cx="2523744" cy="329184"/>
          </a:xfrm>
          <a:prstGeom prst="rect">
            <a:avLst/>
          </a:prstGeom>
          <a:noFill/>
          <a:ln/>
        </p:spPr>
        <p:txBody>
          <a:bodyPr wrap="square" rtlCol="0" anchor="ctr"/>
          <a:lstStyle/>
          <a:p>
            <a:pPr indent="0" marL="0">
              <a:buNone/>
            </a:pPr>
            <a:r>
              <a:rPr lang="en-US" sz="1150" b="1" dirty="0">
                <a:solidFill>
                  <a:srgbClr val="E8E4D9"/>
                </a:solidFill>
                <a:latin typeface="Georgia" pitchFamily="34" charset="0"/>
                <a:ea typeface="Georgia" pitchFamily="34" charset="-122"/>
                <a:cs typeface="Georgia" pitchFamily="34" charset="-120"/>
              </a:rPr>
              <a:t>Irréversibilité du Numérique</a:t>
            </a:r>
            <a:endParaRPr lang="en-US" sz="1150" dirty="0"/>
          </a:p>
        </p:txBody>
      </p:sp>
      <p:sp>
        <p:nvSpPr>
          <p:cNvPr id="12" name="Shape 10"/>
          <p:cNvSpPr/>
          <p:nvPr/>
        </p:nvSpPr>
        <p:spPr>
          <a:xfrm>
            <a:off x="429768" y="2377440"/>
            <a:ext cx="36576" cy="502920"/>
          </a:xfrm>
          <a:prstGeom prst="rect">
            <a:avLst/>
          </a:prstGeom>
          <a:solidFill>
            <a:srgbClr val="C9A84C"/>
          </a:solidFill>
          <a:ln/>
        </p:spPr>
      </p:sp>
      <p:sp>
        <p:nvSpPr>
          <p:cNvPr id="13" name="Text 11"/>
          <p:cNvSpPr/>
          <p:nvPr/>
        </p:nvSpPr>
        <p:spPr>
          <a:xfrm>
            <a:off x="557784" y="2359152"/>
            <a:ext cx="2377440" cy="64008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Les médias qui ignorent le numérique disparaissent. SOPECAM a déjà amorcé ce virage avec la vente en ligne.</a:t>
            </a:r>
            <a:endParaRPr lang="en-US" sz="950" dirty="0"/>
          </a:p>
        </p:txBody>
      </p:sp>
      <p:sp>
        <p:nvSpPr>
          <p:cNvPr id="14" name="Shape 12"/>
          <p:cNvSpPr/>
          <p:nvPr/>
        </p:nvSpPr>
        <p:spPr>
          <a:xfrm>
            <a:off x="429768" y="3127248"/>
            <a:ext cx="36576" cy="502920"/>
          </a:xfrm>
          <a:prstGeom prst="rect">
            <a:avLst/>
          </a:prstGeom>
          <a:solidFill>
            <a:srgbClr val="C9A84C"/>
          </a:solidFill>
          <a:ln/>
        </p:spPr>
      </p:sp>
      <p:sp>
        <p:nvSpPr>
          <p:cNvPr id="15" name="Text 13"/>
          <p:cNvSpPr/>
          <p:nvPr/>
        </p:nvSpPr>
        <p:spPr>
          <a:xfrm>
            <a:off x="557784" y="3108960"/>
            <a:ext cx="2377440" cy="64008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La prochaine étape naturelle est le contenu financier premium — à plus forte valeur et fidélisation.</a:t>
            </a:r>
            <a:endParaRPr lang="en-US" sz="950" dirty="0"/>
          </a:p>
        </p:txBody>
      </p:sp>
      <p:sp>
        <p:nvSpPr>
          <p:cNvPr id="16" name="Shape 14"/>
          <p:cNvSpPr/>
          <p:nvPr/>
        </p:nvSpPr>
        <p:spPr>
          <a:xfrm>
            <a:off x="429768" y="3877056"/>
            <a:ext cx="36576" cy="502920"/>
          </a:xfrm>
          <a:prstGeom prst="rect">
            <a:avLst/>
          </a:prstGeom>
          <a:solidFill>
            <a:srgbClr val="C9A84C"/>
          </a:solidFill>
          <a:ln/>
        </p:spPr>
      </p:sp>
      <p:sp>
        <p:nvSpPr>
          <p:cNvPr id="17" name="Text 15"/>
          <p:cNvSpPr/>
          <p:nvPr/>
        </p:nvSpPr>
        <p:spPr>
          <a:xfrm>
            <a:off x="557784" y="3858768"/>
            <a:ext cx="2377440" cy="64008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Ne pas saisir ce moment, c'est céder le terrain à des acteurs étrangers sans ancrage national.</a:t>
            </a:r>
            <a:endParaRPr lang="en-US" sz="950" dirty="0"/>
          </a:p>
        </p:txBody>
      </p:sp>
      <p:sp>
        <p:nvSpPr>
          <p:cNvPr id="18" name="Shape 16"/>
          <p:cNvSpPr/>
          <p:nvPr/>
        </p:nvSpPr>
        <p:spPr>
          <a:xfrm>
            <a:off x="3200400" y="1874520"/>
            <a:ext cx="2743200" cy="2971800"/>
          </a:xfrm>
          <a:prstGeom prst="rect">
            <a:avLst/>
          </a:prstGeom>
          <a:solidFill>
            <a:srgbClr val="0D1017"/>
          </a:solidFill>
          <a:ln/>
        </p:spPr>
      </p:sp>
      <p:sp>
        <p:nvSpPr>
          <p:cNvPr id="19" name="Shape 17"/>
          <p:cNvSpPr/>
          <p:nvPr/>
        </p:nvSpPr>
        <p:spPr>
          <a:xfrm>
            <a:off x="3200400" y="1874520"/>
            <a:ext cx="2743200" cy="36576"/>
          </a:xfrm>
          <a:prstGeom prst="rect">
            <a:avLst/>
          </a:prstGeom>
          <a:solidFill>
            <a:srgbClr val="C9A84C"/>
          </a:solidFill>
          <a:ln/>
        </p:spPr>
      </p:sp>
      <p:sp>
        <p:nvSpPr>
          <p:cNvPr id="20" name="Text 18"/>
          <p:cNvSpPr/>
          <p:nvPr/>
        </p:nvSpPr>
        <p:spPr>
          <a:xfrm>
            <a:off x="3310128" y="1956816"/>
            <a:ext cx="2523744" cy="329184"/>
          </a:xfrm>
          <a:prstGeom prst="rect">
            <a:avLst/>
          </a:prstGeom>
          <a:noFill/>
          <a:ln/>
        </p:spPr>
        <p:txBody>
          <a:bodyPr wrap="square" rtlCol="0" anchor="ctr"/>
          <a:lstStyle/>
          <a:p>
            <a:pPr indent="0" marL="0">
              <a:buNone/>
            </a:pPr>
            <a:r>
              <a:rPr lang="en-US" sz="1150" b="1" dirty="0">
                <a:solidFill>
                  <a:srgbClr val="E8E4D9"/>
                </a:solidFill>
                <a:latin typeface="Georgia" pitchFamily="34" charset="0"/>
                <a:ea typeface="Georgia" pitchFamily="34" charset="-122"/>
                <a:cs typeface="Georgia" pitchFamily="34" charset="-120"/>
              </a:rPr>
              <a:t>L'Avantage Concurrentiel Unique</a:t>
            </a:r>
            <a:endParaRPr lang="en-US" sz="1150" dirty="0"/>
          </a:p>
        </p:txBody>
      </p:sp>
      <p:sp>
        <p:nvSpPr>
          <p:cNvPr id="21" name="Shape 19"/>
          <p:cNvSpPr/>
          <p:nvPr/>
        </p:nvSpPr>
        <p:spPr>
          <a:xfrm>
            <a:off x="3310128" y="2377440"/>
            <a:ext cx="36576" cy="502920"/>
          </a:xfrm>
          <a:prstGeom prst="rect">
            <a:avLst/>
          </a:prstGeom>
          <a:solidFill>
            <a:srgbClr val="C9A84C"/>
          </a:solidFill>
          <a:ln/>
        </p:spPr>
      </p:sp>
      <p:sp>
        <p:nvSpPr>
          <p:cNvPr id="22" name="Text 20"/>
          <p:cNvSpPr/>
          <p:nvPr/>
        </p:nvSpPr>
        <p:spPr>
          <a:xfrm>
            <a:off x="3438144" y="2359152"/>
            <a:ext cx="2377440" cy="64008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SOPECAM possède déjà la marque, la crédibilité institutionnelle et le réseau de distribution — des atouts que personne d'autre ne peut acheter.</a:t>
            </a:r>
            <a:endParaRPr lang="en-US" sz="950" dirty="0"/>
          </a:p>
        </p:txBody>
      </p:sp>
      <p:sp>
        <p:nvSpPr>
          <p:cNvPr id="23" name="Shape 21"/>
          <p:cNvSpPr/>
          <p:nvPr/>
        </p:nvSpPr>
        <p:spPr>
          <a:xfrm>
            <a:off x="3310128" y="3127248"/>
            <a:ext cx="36576" cy="502920"/>
          </a:xfrm>
          <a:prstGeom prst="rect">
            <a:avLst/>
          </a:prstGeom>
          <a:solidFill>
            <a:srgbClr val="C9A84C"/>
          </a:solidFill>
          <a:ln/>
        </p:spPr>
      </p:sp>
      <p:sp>
        <p:nvSpPr>
          <p:cNvPr id="24" name="Text 22"/>
          <p:cNvSpPr/>
          <p:nvPr/>
        </p:nvSpPr>
        <p:spPr>
          <a:xfrm>
            <a:off x="3438144" y="3108960"/>
            <a:ext cx="2377440" cy="64008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Une startup fintech étrangère mettra des années à bâtir ce que SOPECAM possède déjà.</a:t>
            </a:r>
            <a:endParaRPr lang="en-US" sz="950" dirty="0"/>
          </a:p>
        </p:txBody>
      </p:sp>
      <p:sp>
        <p:nvSpPr>
          <p:cNvPr id="25" name="Shape 23"/>
          <p:cNvSpPr/>
          <p:nvPr/>
        </p:nvSpPr>
        <p:spPr>
          <a:xfrm>
            <a:off x="3310128" y="3877056"/>
            <a:ext cx="36576" cy="502920"/>
          </a:xfrm>
          <a:prstGeom prst="rect">
            <a:avLst/>
          </a:prstGeom>
          <a:solidFill>
            <a:srgbClr val="C9A84C"/>
          </a:solidFill>
          <a:ln/>
        </p:spPr>
      </p:sp>
      <p:sp>
        <p:nvSpPr>
          <p:cNvPr id="26" name="Text 24"/>
          <p:cNvSpPr/>
          <p:nvPr/>
        </p:nvSpPr>
        <p:spPr>
          <a:xfrm>
            <a:off x="3438144" y="3858768"/>
            <a:ext cx="2377440" cy="64008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La fenêtre d'avantage concurrentiel est ouverte maintenant — elle se fermera.</a:t>
            </a:r>
            <a:endParaRPr lang="en-US" sz="950" dirty="0"/>
          </a:p>
        </p:txBody>
      </p:sp>
      <p:sp>
        <p:nvSpPr>
          <p:cNvPr id="27" name="Shape 25"/>
          <p:cNvSpPr/>
          <p:nvPr/>
        </p:nvSpPr>
        <p:spPr>
          <a:xfrm>
            <a:off x="6080760" y="1874520"/>
            <a:ext cx="2743200" cy="2971800"/>
          </a:xfrm>
          <a:prstGeom prst="rect">
            <a:avLst/>
          </a:prstGeom>
          <a:solidFill>
            <a:srgbClr val="0D1017"/>
          </a:solidFill>
          <a:ln/>
        </p:spPr>
      </p:sp>
      <p:sp>
        <p:nvSpPr>
          <p:cNvPr id="28" name="Shape 26"/>
          <p:cNvSpPr/>
          <p:nvPr/>
        </p:nvSpPr>
        <p:spPr>
          <a:xfrm>
            <a:off x="6080760" y="1874520"/>
            <a:ext cx="2743200" cy="36576"/>
          </a:xfrm>
          <a:prstGeom prst="rect">
            <a:avLst/>
          </a:prstGeom>
          <a:solidFill>
            <a:srgbClr val="C9A84C"/>
          </a:solidFill>
          <a:ln/>
        </p:spPr>
      </p:sp>
      <p:sp>
        <p:nvSpPr>
          <p:cNvPr id="29" name="Text 27"/>
          <p:cNvSpPr/>
          <p:nvPr/>
        </p:nvSpPr>
        <p:spPr>
          <a:xfrm>
            <a:off x="6190488" y="1956816"/>
            <a:ext cx="2523744" cy="329184"/>
          </a:xfrm>
          <a:prstGeom prst="rect">
            <a:avLst/>
          </a:prstGeom>
          <a:noFill/>
          <a:ln/>
        </p:spPr>
        <p:txBody>
          <a:bodyPr wrap="square" rtlCol="0" anchor="ctr"/>
          <a:lstStyle/>
          <a:p>
            <a:pPr indent="0" marL="0">
              <a:buNone/>
            </a:pPr>
            <a:r>
              <a:rPr lang="en-US" sz="1150" b="1" dirty="0">
                <a:solidFill>
                  <a:srgbClr val="E8E4D9"/>
                </a:solidFill>
                <a:latin typeface="Georgia" pitchFamily="34" charset="0"/>
                <a:ea typeface="Georgia" pitchFamily="34" charset="-122"/>
                <a:cs typeface="Georgia" pitchFamily="34" charset="-120"/>
              </a:rPr>
              <a:t>Retour sur Mission Nationale</a:t>
            </a:r>
            <a:endParaRPr lang="en-US" sz="1150" dirty="0"/>
          </a:p>
        </p:txBody>
      </p:sp>
      <p:sp>
        <p:nvSpPr>
          <p:cNvPr id="30" name="Shape 28"/>
          <p:cNvSpPr/>
          <p:nvPr/>
        </p:nvSpPr>
        <p:spPr>
          <a:xfrm>
            <a:off x="6190488" y="2377440"/>
            <a:ext cx="36576" cy="502920"/>
          </a:xfrm>
          <a:prstGeom prst="rect">
            <a:avLst/>
          </a:prstGeom>
          <a:solidFill>
            <a:srgbClr val="C9A84C"/>
          </a:solidFill>
          <a:ln/>
        </p:spPr>
      </p:sp>
      <p:sp>
        <p:nvSpPr>
          <p:cNvPr id="31" name="Text 29"/>
          <p:cNvSpPr/>
          <p:nvPr/>
        </p:nvSpPr>
        <p:spPr>
          <a:xfrm>
            <a:off x="6318504" y="2359152"/>
            <a:ext cx="2377440" cy="64008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SOPECAM est né pour informer les Camerounais. L'intelligence financière est l'information la plus actionnable et la plus précieuse du XXIe siècle.</a:t>
            </a:r>
            <a:endParaRPr lang="en-US" sz="950" dirty="0"/>
          </a:p>
        </p:txBody>
      </p:sp>
      <p:sp>
        <p:nvSpPr>
          <p:cNvPr id="32" name="Shape 30"/>
          <p:cNvSpPr/>
          <p:nvPr/>
        </p:nvSpPr>
        <p:spPr>
          <a:xfrm>
            <a:off x="6190488" y="3127248"/>
            <a:ext cx="36576" cy="502920"/>
          </a:xfrm>
          <a:prstGeom prst="rect">
            <a:avLst/>
          </a:prstGeom>
          <a:solidFill>
            <a:srgbClr val="C9A84C"/>
          </a:solidFill>
          <a:ln/>
        </p:spPr>
      </p:sp>
      <p:sp>
        <p:nvSpPr>
          <p:cNvPr id="33" name="Text 31"/>
          <p:cNvSpPr/>
          <p:nvPr/>
        </p:nvSpPr>
        <p:spPr>
          <a:xfrm>
            <a:off x="6318504" y="3108960"/>
            <a:ext cx="2377440" cy="64008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Éduquer financièrement le citoyen camerounais n'est pas accessoire à la mission — c'est son évolution logique.</a:t>
            </a:r>
            <a:endParaRPr lang="en-US" sz="950" dirty="0"/>
          </a:p>
        </p:txBody>
      </p:sp>
      <p:sp>
        <p:nvSpPr>
          <p:cNvPr id="34" name="Shape 32"/>
          <p:cNvSpPr/>
          <p:nvPr/>
        </p:nvSpPr>
        <p:spPr>
          <a:xfrm>
            <a:off x="6190488" y="3877056"/>
            <a:ext cx="36576" cy="502920"/>
          </a:xfrm>
          <a:prstGeom prst="rect">
            <a:avLst/>
          </a:prstGeom>
          <a:solidFill>
            <a:srgbClr val="C9A84C"/>
          </a:solidFill>
          <a:ln/>
        </p:spPr>
      </p:sp>
      <p:sp>
        <p:nvSpPr>
          <p:cNvPr id="35" name="Text 33"/>
          <p:cNvSpPr/>
          <p:nvPr/>
        </p:nvSpPr>
        <p:spPr>
          <a:xfrm>
            <a:off x="6318504" y="3858768"/>
            <a:ext cx="2377440" cy="640080"/>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Ce projet est à la fois commercial, éducatif, et souverain — rare convergence qui mérite l'approbation du Conseil.</a:t>
            </a:r>
            <a:endParaRPr lang="en-US" sz="950" dirty="0"/>
          </a:p>
        </p:txBody>
      </p:sp>
      <p:sp>
        <p:nvSpPr>
          <p:cNvPr id="36" name="Text 34"/>
          <p:cNvSpPr/>
          <p:nvPr/>
        </p:nvSpPr>
        <p:spPr>
          <a:xfrm>
            <a:off x="8732520" y="4800600"/>
            <a:ext cx="365760" cy="228600"/>
          </a:xfrm>
          <a:prstGeom prst="rect">
            <a:avLst/>
          </a:prstGeom>
          <a:noFill/>
          <a:ln/>
        </p:spPr>
        <p:txBody>
          <a:bodyPr wrap="square" rtlCol="0" anchor="ctr"/>
          <a:lstStyle/>
          <a:p>
            <a:pPr indent="0" marL="0">
              <a:buNone/>
            </a:pPr>
            <a:r>
              <a:rPr lang="en-US" sz="900" dirty="0">
                <a:solidFill>
                  <a:srgbClr val="6B6048"/>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A0E"/>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80A0E"/>
          </a:solidFill>
          <a:ln/>
        </p:spPr>
      </p:sp>
      <p:sp>
        <p:nvSpPr>
          <p:cNvPr id="3" name="Shape 1"/>
          <p:cNvSpPr/>
          <p:nvPr/>
        </p:nvSpPr>
        <p:spPr>
          <a:xfrm>
            <a:off x="0" y="0"/>
            <a:ext cx="9144000" cy="36576"/>
          </a:xfrm>
          <a:prstGeom prst="rect">
            <a:avLst/>
          </a:prstGeom>
          <a:solidFill>
            <a:srgbClr val="C9A84C"/>
          </a:solidFill>
          <a:ln/>
        </p:spPr>
      </p:sp>
      <p:sp>
        <p:nvSpPr>
          <p:cNvPr id="4" name="Shape 2"/>
          <p:cNvSpPr/>
          <p:nvPr/>
        </p:nvSpPr>
        <p:spPr>
          <a:xfrm>
            <a:off x="0" y="5106924"/>
            <a:ext cx="9144000" cy="36576"/>
          </a:xfrm>
          <a:prstGeom prst="rect">
            <a:avLst/>
          </a:prstGeom>
          <a:solidFill>
            <a:srgbClr val="C9A84C"/>
          </a:solidFill>
          <a:ln/>
        </p:spPr>
      </p:sp>
      <p:sp>
        <p:nvSpPr>
          <p:cNvPr id="5" name="Shape 3"/>
          <p:cNvSpPr/>
          <p:nvPr/>
        </p:nvSpPr>
        <p:spPr>
          <a:xfrm>
            <a:off x="4114800" y="0"/>
            <a:ext cx="5029200" cy="5143500"/>
          </a:xfrm>
          <a:prstGeom prst="rect">
            <a:avLst/>
          </a:prstGeom>
          <a:solidFill>
            <a:srgbClr val="0D1017"/>
          </a:solidFill>
          <a:ln/>
        </p:spPr>
      </p:sp>
      <p:sp>
        <p:nvSpPr>
          <p:cNvPr id="6" name="Text 4"/>
          <p:cNvSpPr/>
          <p:nvPr/>
        </p:nvSpPr>
        <p:spPr>
          <a:xfrm>
            <a:off x="411480" y="548640"/>
            <a:ext cx="3657600" cy="685800"/>
          </a:xfrm>
          <a:prstGeom prst="rect">
            <a:avLst/>
          </a:prstGeom>
          <a:noFill/>
          <a:ln/>
        </p:spPr>
        <p:txBody>
          <a:bodyPr wrap="square" rtlCol="0" anchor="ctr"/>
          <a:lstStyle/>
          <a:p>
            <a:pPr indent="0" marL="0">
              <a:buNone/>
            </a:pPr>
            <a:r>
              <a:rPr lang="en-US" sz="4000" b="1" spc="200" kern="0" dirty="0">
                <a:solidFill>
                  <a:srgbClr val="E8E4D9"/>
                </a:solidFill>
                <a:latin typeface="Georgia" pitchFamily="34" charset="0"/>
                <a:ea typeface="Georgia" pitchFamily="34" charset="-122"/>
                <a:cs typeface="Georgia" pitchFamily="34" charset="-120"/>
              </a:rPr>
              <a:t>SOPECAM</a:t>
            </a:r>
            <a:endParaRPr lang="en-US" sz="4000" dirty="0"/>
          </a:p>
        </p:txBody>
      </p:sp>
      <p:sp>
        <p:nvSpPr>
          <p:cNvPr id="7" name="Text 5"/>
          <p:cNvSpPr/>
          <p:nvPr/>
        </p:nvSpPr>
        <p:spPr>
          <a:xfrm>
            <a:off x="411480" y="1188720"/>
            <a:ext cx="3657600" cy="685800"/>
          </a:xfrm>
          <a:prstGeom prst="rect">
            <a:avLst/>
          </a:prstGeom>
          <a:noFill/>
          <a:ln/>
        </p:spPr>
        <p:txBody>
          <a:bodyPr wrap="square" rtlCol="0" anchor="ctr"/>
          <a:lstStyle/>
          <a:p>
            <a:pPr indent="0" marL="0">
              <a:buNone/>
            </a:pPr>
            <a:r>
              <a:rPr lang="en-US" sz="4000" b="1" spc="200" kern="0" dirty="0">
                <a:solidFill>
                  <a:srgbClr val="C9A84C"/>
                </a:solidFill>
                <a:latin typeface="Georgia" pitchFamily="34" charset="0"/>
                <a:ea typeface="Georgia" pitchFamily="34" charset="-122"/>
                <a:cs typeface="Georgia" pitchFamily="34" charset="-120"/>
              </a:rPr>
              <a:t>CAPITAL</a:t>
            </a:r>
            <a:endParaRPr lang="en-US" sz="4000" dirty="0"/>
          </a:p>
        </p:txBody>
      </p:sp>
      <p:sp>
        <p:nvSpPr>
          <p:cNvPr id="8" name="Text 6"/>
          <p:cNvSpPr/>
          <p:nvPr/>
        </p:nvSpPr>
        <p:spPr>
          <a:xfrm>
            <a:off x="411480" y="2011680"/>
            <a:ext cx="3474720" cy="777240"/>
          </a:xfrm>
          <a:prstGeom prst="rect">
            <a:avLst/>
          </a:prstGeom>
          <a:noFill/>
          <a:ln/>
        </p:spPr>
        <p:txBody>
          <a:bodyPr wrap="square" rtlCol="0" anchor="ctr"/>
          <a:lstStyle/>
          <a:p>
            <a:pPr indent="0" marL="0">
              <a:buNone/>
            </a:pPr>
            <a:r>
              <a:rPr lang="en-US" sz="1400" i="1" dirty="0">
                <a:solidFill>
                  <a:srgbClr val="A89F8A"/>
                </a:solidFill>
                <a:latin typeface="Georgia" pitchFamily="34" charset="0"/>
                <a:ea typeface="Georgia" pitchFamily="34" charset="-122"/>
                <a:cs typeface="Georgia" pitchFamily="34" charset="-120"/>
              </a:rPr>
              <a:t>L'Intelligence Financière Mondiale</a:t>
            </a:r>
            <a:endParaRPr lang="en-US" sz="1400" dirty="0"/>
          </a:p>
          <a:p>
            <a:pPr indent="0" marL="0">
              <a:buNone/>
            </a:pPr>
            <a:r>
              <a:rPr lang="en-US" sz="1400" i="1" dirty="0">
                <a:solidFill>
                  <a:srgbClr val="A89F8A"/>
                </a:solidFill>
                <a:latin typeface="Georgia" pitchFamily="34" charset="0"/>
                <a:ea typeface="Georgia" pitchFamily="34" charset="-122"/>
                <a:cs typeface="Georgia" pitchFamily="34" charset="-120"/>
              </a:rPr>
              <a:t>au service du Cameroun.</a:t>
            </a:r>
            <a:endParaRPr lang="en-US" sz="1400" dirty="0"/>
          </a:p>
        </p:txBody>
      </p:sp>
      <p:sp>
        <p:nvSpPr>
          <p:cNvPr id="9" name="Shape 7"/>
          <p:cNvSpPr/>
          <p:nvPr/>
        </p:nvSpPr>
        <p:spPr>
          <a:xfrm>
            <a:off x="411480" y="2926080"/>
            <a:ext cx="1828800" cy="0"/>
          </a:xfrm>
          <a:prstGeom prst="line">
            <a:avLst/>
          </a:prstGeom>
          <a:noFill/>
          <a:ln w="6350">
            <a:solidFill>
              <a:srgbClr val="8A6A20"/>
            </a:solidFill>
            <a:prstDash val="solid"/>
          </a:ln>
        </p:spPr>
      </p:sp>
      <p:sp>
        <p:nvSpPr>
          <p:cNvPr id="10" name="Text 8"/>
          <p:cNvSpPr/>
          <p:nvPr/>
        </p:nvSpPr>
        <p:spPr>
          <a:xfrm>
            <a:off x="411480" y="3017520"/>
            <a:ext cx="3566160" cy="594360"/>
          </a:xfrm>
          <a:prstGeom prst="rect">
            <a:avLst/>
          </a:prstGeom>
          <a:noFill/>
          <a:ln/>
        </p:spPr>
        <p:txBody>
          <a:bodyPr wrap="square" rtlCol="0" anchor="ctr"/>
          <a:lstStyle/>
          <a:p>
            <a:pPr indent="0" marL="0">
              <a:buNone/>
            </a:pPr>
            <a:r>
              <a:rPr lang="en-US" sz="950" dirty="0">
                <a:solidFill>
                  <a:srgbClr val="6B6048"/>
                </a:solidFill>
                <a:latin typeface="Calibri" pitchFamily="34" charset="0"/>
                <a:ea typeface="Calibri" pitchFamily="34" charset="-122"/>
                <a:cs typeface="Calibri" pitchFamily="34" charset="-120"/>
              </a:rPr>
              <a:t>Document préparé à l'attention</a:t>
            </a:r>
            <a:endParaRPr lang="en-US" sz="950" dirty="0"/>
          </a:p>
          <a:p>
            <a:pPr indent="0" marL="0">
              <a:buNone/>
            </a:pPr>
            <a:r>
              <a:rPr lang="en-US" sz="950" dirty="0">
                <a:solidFill>
                  <a:srgbClr val="6B6048"/>
                </a:solidFill>
                <a:latin typeface="Calibri" pitchFamily="34" charset="0"/>
                <a:ea typeface="Calibri" pitchFamily="34" charset="-122"/>
                <a:cs typeface="Calibri" pitchFamily="34" charset="-120"/>
              </a:rPr>
              <a:t>du Conseil d'Administration de SOPECAM</a:t>
            </a:r>
            <a:endParaRPr lang="en-US" sz="950" dirty="0"/>
          </a:p>
          <a:p>
            <a:pPr indent="0" marL="0">
              <a:buNone/>
            </a:pPr>
            <a:r>
              <a:rPr lang="en-US" sz="950" dirty="0">
                <a:solidFill>
                  <a:srgbClr val="6B6048"/>
                </a:solidFill>
                <a:latin typeface="Calibri" pitchFamily="34" charset="0"/>
                <a:ea typeface="Calibri" pitchFamily="34" charset="-122"/>
                <a:cs typeface="Calibri" pitchFamily="34" charset="-120"/>
              </a:rPr>
              <a:t>Mai 2026 — Confidentiel</a:t>
            </a:r>
            <a:endParaRPr lang="en-US" sz="950" dirty="0"/>
          </a:p>
        </p:txBody>
      </p:sp>
      <p:sp>
        <p:nvSpPr>
          <p:cNvPr id="11" name="Text 9"/>
          <p:cNvSpPr/>
          <p:nvPr/>
        </p:nvSpPr>
        <p:spPr>
          <a:xfrm>
            <a:off x="4343400" y="548640"/>
            <a:ext cx="4480560" cy="274320"/>
          </a:xfrm>
          <a:prstGeom prst="rect">
            <a:avLst/>
          </a:prstGeom>
          <a:noFill/>
          <a:ln/>
        </p:spPr>
        <p:txBody>
          <a:bodyPr wrap="square" rtlCol="0" anchor="ctr"/>
          <a:lstStyle/>
          <a:p>
            <a:pPr indent="0" marL="0">
              <a:buNone/>
            </a:pPr>
            <a:r>
              <a:rPr lang="en-US" sz="900" spc="300" kern="0" dirty="0">
                <a:solidFill>
                  <a:srgbClr val="C9A84C"/>
                </a:solidFill>
                <a:latin typeface="Calibri" pitchFamily="34" charset="0"/>
                <a:ea typeface="Calibri" pitchFamily="34" charset="-122"/>
                <a:cs typeface="Calibri" pitchFamily="34" charset="-120"/>
              </a:rPr>
              <a:t>DEMANDE D'APPROBATION</a:t>
            </a:r>
            <a:endParaRPr lang="en-US" sz="900" dirty="0"/>
          </a:p>
        </p:txBody>
      </p:sp>
      <p:sp>
        <p:nvSpPr>
          <p:cNvPr id="12" name="Text 10"/>
          <p:cNvSpPr/>
          <p:nvPr/>
        </p:nvSpPr>
        <p:spPr>
          <a:xfrm>
            <a:off x="4343400" y="914400"/>
            <a:ext cx="4480560" cy="292608"/>
          </a:xfrm>
          <a:prstGeom prst="rect">
            <a:avLst/>
          </a:prstGeom>
          <a:noFill/>
          <a:ln/>
        </p:spPr>
        <p:txBody>
          <a:bodyPr wrap="square" rtlCol="0" anchor="ctr"/>
          <a:lstStyle/>
          <a:p>
            <a:pPr indent="0" marL="0">
              <a:buNone/>
            </a:pPr>
            <a:r>
              <a:rPr lang="en-US" sz="1200" b="1" dirty="0">
                <a:solidFill>
                  <a:srgbClr val="E8E4D9"/>
                </a:solidFill>
                <a:latin typeface="Calibri" pitchFamily="34" charset="0"/>
                <a:ea typeface="Calibri" pitchFamily="34" charset="-122"/>
                <a:cs typeface="Calibri" pitchFamily="34" charset="-120"/>
              </a:rPr>
              <a:t>Le Conseil est invité à approuver :</a:t>
            </a:r>
            <a:endParaRPr lang="en-US" sz="1200" dirty="0"/>
          </a:p>
        </p:txBody>
      </p:sp>
      <p:sp>
        <p:nvSpPr>
          <p:cNvPr id="13" name="Shape 11"/>
          <p:cNvSpPr/>
          <p:nvPr/>
        </p:nvSpPr>
        <p:spPr>
          <a:xfrm>
            <a:off x="4343400" y="1298448"/>
            <a:ext cx="4480560" cy="749808"/>
          </a:xfrm>
          <a:prstGeom prst="rect">
            <a:avLst/>
          </a:prstGeom>
          <a:solidFill>
            <a:srgbClr val="080A0E"/>
          </a:solidFill>
          <a:ln/>
        </p:spPr>
      </p:sp>
      <p:sp>
        <p:nvSpPr>
          <p:cNvPr id="14" name="Shape 12"/>
          <p:cNvSpPr/>
          <p:nvPr/>
        </p:nvSpPr>
        <p:spPr>
          <a:xfrm>
            <a:off x="4343400" y="1298448"/>
            <a:ext cx="36576" cy="749808"/>
          </a:xfrm>
          <a:prstGeom prst="rect">
            <a:avLst/>
          </a:prstGeom>
          <a:solidFill>
            <a:srgbClr val="C9A84C"/>
          </a:solidFill>
          <a:ln/>
        </p:spPr>
      </p:sp>
      <p:sp>
        <p:nvSpPr>
          <p:cNvPr id="15" name="Text 13"/>
          <p:cNvSpPr/>
          <p:nvPr/>
        </p:nvSpPr>
        <p:spPr>
          <a:xfrm>
            <a:off x="4462272" y="1353312"/>
            <a:ext cx="365760" cy="237744"/>
          </a:xfrm>
          <a:prstGeom prst="rect">
            <a:avLst/>
          </a:prstGeom>
          <a:noFill/>
          <a:ln/>
        </p:spPr>
        <p:txBody>
          <a:bodyPr wrap="square"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01</a:t>
            </a:r>
            <a:endParaRPr lang="en-US" sz="1000" dirty="0"/>
          </a:p>
        </p:txBody>
      </p:sp>
      <p:sp>
        <p:nvSpPr>
          <p:cNvPr id="16" name="Text 14"/>
          <p:cNvSpPr/>
          <p:nvPr/>
        </p:nvSpPr>
        <p:spPr>
          <a:xfrm>
            <a:off x="4846320" y="1353312"/>
            <a:ext cx="3886200" cy="237744"/>
          </a:xfrm>
          <a:prstGeom prst="rect">
            <a:avLst/>
          </a:prstGeom>
          <a:noFill/>
          <a:ln/>
        </p:spPr>
        <p:txBody>
          <a:bodyPr wrap="square" rtlCol="0" anchor="ctr"/>
          <a:lstStyle/>
          <a:p>
            <a:pPr indent="0" marL="0">
              <a:buNone/>
            </a:pPr>
            <a:r>
              <a:rPr lang="en-US" sz="1100" b="1" dirty="0">
                <a:solidFill>
                  <a:srgbClr val="E8E4D9"/>
                </a:solidFill>
                <a:latin typeface="Calibri" pitchFamily="34" charset="0"/>
                <a:ea typeface="Calibri" pitchFamily="34" charset="-122"/>
                <a:cs typeface="Calibri" pitchFamily="34" charset="-120"/>
              </a:rPr>
              <a:t>Approbation de Principe</a:t>
            </a:r>
            <a:endParaRPr lang="en-US" sz="1100" dirty="0"/>
          </a:p>
        </p:txBody>
      </p:sp>
      <p:sp>
        <p:nvSpPr>
          <p:cNvPr id="17" name="Text 15"/>
          <p:cNvSpPr/>
          <p:nvPr/>
        </p:nvSpPr>
        <p:spPr>
          <a:xfrm>
            <a:off x="4846320" y="1609344"/>
            <a:ext cx="3886200" cy="347472"/>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Création officielle de la branche SOPECAM Capital — Intelligence Financière Mondiale</a:t>
            </a:r>
            <a:endParaRPr lang="en-US" sz="950" dirty="0"/>
          </a:p>
        </p:txBody>
      </p:sp>
      <p:sp>
        <p:nvSpPr>
          <p:cNvPr id="18" name="Shape 16"/>
          <p:cNvSpPr/>
          <p:nvPr/>
        </p:nvSpPr>
        <p:spPr>
          <a:xfrm>
            <a:off x="4343400" y="2139696"/>
            <a:ext cx="4480560" cy="749808"/>
          </a:xfrm>
          <a:prstGeom prst="rect">
            <a:avLst/>
          </a:prstGeom>
          <a:solidFill>
            <a:srgbClr val="080A0E"/>
          </a:solidFill>
          <a:ln/>
        </p:spPr>
      </p:sp>
      <p:sp>
        <p:nvSpPr>
          <p:cNvPr id="19" name="Shape 17"/>
          <p:cNvSpPr/>
          <p:nvPr/>
        </p:nvSpPr>
        <p:spPr>
          <a:xfrm>
            <a:off x="4343400" y="2139696"/>
            <a:ext cx="36576" cy="749808"/>
          </a:xfrm>
          <a:prstGeom prst="rect">
            <a:avLst/>
          </a:prstGeom>
          <a:solidFill>
            <a:srgbClr val="C9A84C"/>
          </a:solidFill>
          <a:ln/>
        </p:spPr>
      </p:sp>
      <p:sp>
        <p:nvSpPr>
          <p:cNvPr id="20" name="Text 18"/>
          <p:cNvSpPr/>
          <p:nvPr/>
        </p:nvSpPr>
        <p:spPr>
          <a:xfrm>
            <a:off x="4462272" y="2194560"/>
            <a:ext cx="365760" cy="237744"/>
          </a:xfrm>
          <a:prstGeom prst="rect">
            <a:avLst/>
          </a:prstGeom>
          <a:noFill/>
          <a:ln/>
        </p:spPr>
        <p:txBody>
          <a:bodyPr wrap="square"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02</a:t>
            </a:r>
            <a:endParaRPr lang="en-US" sz="1000" dirty="0"/>
          </a:p>
        </p:txBody>
      </p:sp>
      <p:sp>
        <p:nvSpPr>
          <p:cNvPr id="21" name="Text 19"/>
          <p:cNvSpPr/>
          <p:nvPr/>
        </p:nvSpPr>
        <p:spPr>
          <a:xfrm>
            <a:off x="4846320" y="2194560"/>
            <a:ext cx="3886200" cy="237744"/>
          </a:xfrm>
          <a:prstGeom prst="rect">
            <a:avLst/>
          </a:prstGeom>
          <a:noFill/>
          <a:ln/>
        </p:spPr>
        <p:txBody>
          <a:bodyPr wrap="square" rtlCol="0" anchor="ctr"/>
          <a:lstStyle/>
          <a:p>
            <a:pPr indent="0" marL="0">
              <a:buNone/>
            </a:pPr>
            <a:r>
              <a:rPr lang="en-US" sz="1100" b="1" dirty="0">
                <a:solidFill>
                  <a:srgbClr val="E8E4D9"/>
                </a:solidFill>
                <a:latin typeface="Calibri" pitchFamily="34" charset="0"/>
                <a:ea typeface="Calibri" pitchFamily="34" charset="-122"/>
                <a:cs typeface="Calibri" pitchFamily="34" charset="-120"/>
              </a:rPr>
              <a:t>Mandat de Négociation</a:t>
            </a:r>
            <a:endParaRPr lang="en-US" sz="1100" dirty="0"/>
          </a:p>
        </p:txBody>
      </p:sp>
      <p:sp>
        <p:nvSpPr>
          <p:cNvPr id="22" name="Text 20"/>
          <p:cNvSpPr/>
          <p:nvPr/>
        </p:nvSpPr>
        <p:spPr>
          <a:xfrm>
            <a:off x="4846320" y="2450592"/>
            <a:ext cx="3886200" cy="347472"/>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Autorisation de négocier les partenariats data, technologie et accès (brokers agréés COSUMAF)</a:t>
            </a:r>
            <a:endParaRPr lang="en-US" sz="950" dirty="0"/>
          </a:p>
        </p:txBody>
      </p:sp>
      <p:sp>
        <p:nvSpPr>
          <p:cNvPr id="23" name="Shape 21"/>
          <p:cNvSpPr/>
          <p:nvPr/>
        </p:nvSpPr>
        <p:spPr>
          <a:xfrm>
            <a:off x="4343400" y="2980944"/>
            <a:ext cx="4480560" cy="749808"/>
          </a:xfrm>
          <a:prstGeom prst="rect">
            <a:avLst/>
          </a:prstGeom>
          <a:solidFill>
            <a:srgbClr val="080A0E"/>
          </a:solidFill>
          <a:ln/>
        </p:spPr>
      </p:sp>
      <p:sp>
        <p:nvSpPr>
          <p:cNvPr id="24" name="Shape 22"/>
          <p:cNvSpPr/>
          <p:nvPr/>
        </p:nvSpPr>
        <p:spPr>
          <a:xfrm>
            <a:off x="4343400" y="2980944"/>
            <a:ext cx="36576" cy="749808"/>
          </a:xfrm>
          <a:prstGeom prst="rect">
            <a:avLst/>
          </a:prstGeom>
          <a:solidFill>
            <a:srgbClr val="C9A84C"/>
          </a:solidFill>
          <a:ln/>
        </p:spPr>
      </p:sp>
      <p:sp>
        <p:nvSpPr>
          <p:cNvPr id="25" name="Text 23"/>
          <p:cNvSpPr/>
          <p:nvPr/>
        </p:nvSpPr>
        <p:spPr>
          <a:xfrm>
            <a:off x="4462272" y="3035808"/>
            <a:ext cx="365760" cy="237744"/>
          </a:xfrm>
          <a:prstGeom prst="rect">
            <a:avLst/>
          </a:prstGeom>
          <a:noFill/>
          <a:ln/>
        </p:spPr>
        <p:txBody>
          <a:bodyPr wrap="square"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03</a:t>
            </a:r>
            <a:endParaRPr lang="en-US" sz="1000" dirty="0"/>
          </a:p>
        </p:txBody>
      </p:sp>
      <p:sp>
        <p:nvSpPr>
          <p:cNvPr id="26" name="Text 24"/>
          <p:cNvSpPr/>
          <p:nvPr/>
        </p:nvSpPr>
        <p:spPr>
          <a:xfrm>
            <a:off x="4846320" y="3035808"/>
            <a:ext cx="3886200" cy="237744"/>
          </a:xfrm>
          <a:prstGeom prst="rect">
            <a:avLst/>
          </a:prstGeom>
          <a:noFill/>
          <a:ln/>
        </p:spPr>
        <p:txBody>
          <a:bodyPr wrap="square" rtlCol="0" anchor="ctr"/>
          <a:lstStyle/>
          <a:p>
            <a:pPr indent="0" marL="0">
              <a:buNone/>
            </a:pPr>
            <a:r>
              <a:rPr lang="en-US" sz="1100" b="1" dirty="0">
                <a:solidFill>
                  <a:srgbClr val="E8E4D9"/>
                </a:solidFill>
                <a:latin typeface="Calibri" pitchFamily="34" charset="0"/>
                <a:ea typeface="Calibri" pitchFamily="34" charset="-122"/>
                <a:cs typeface="Calibri" pitchFamily="34" charset="-120"/>
              </a:rPr>
              <a:t>Dotation Phase 0</a:t>
            </a:r>
            <a:endParaRPr lang="en-US" sz="1100" dirty="0"/>
          </a:p>
        </p:txBody>
      </p:sp>
      <p:sp>
        <p:nvSpPr>
          <p:cNvPr id="27" name="Text 25"/>
          <p:cNvSpPr/>
          <p:nvPr/>
        </p:nvSpPr>
        <p:spPr>
          <a:xfrm>
            <a:off x="4846320" y="3291840"/>
            <a:ext cx="3886200" cy="347472"/>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Budget de démarrage pour la constitution de l'équipe éditoriale (6 profils) et le cadre juridique</a:t>
            </a:r>
            <a:endParaRPr lang="en-US" sz="950" dirty="0"/>
          </a:p>
        </p:txBody>
      </p:sp>
      <p:sp>
        <p:nvSpPr>
          <p:cNvPr id="28" name="Shape 26"/>
          <p:cNvSpPr/>
          <p:nvPr/>
        </p:nvSpPr>
        <p:spPr>
          <a:xfrm>
            <a:off x="4343400" y="3822192"/>
            <a:ext cx="4480560" cy="749808"/>
          </a:xfrm>
          <a:prstGeom prst="rect">
            <a:avLst/>
          </a:prstGeom>
          <a:solidFill>
            <a:srgbClr val="080A0E"/>
          </a:solidFill>
          <a:ln/>
        </p:spPr>
      </p:sp>
      <p:sp>
        <p:nvSpPr>
          <p:cNvPr id="29" name="Shape 27"/>
          <p:cNvSpPr/>
          <p:nvPr/>
        </p:nvSpPr>
        <p:spPr>
          <a:xfrm>
            <a:off x="4343400" y="3822192"/>
            <a:ext cx="36576" cy="749808"/>
          </a:xfrm>
          <a:prstGeom prst="rect">
            <a:avLst/>
          </a:prstGeom>
          <a:solidFill>
            <a:srgbClr val="C9A84C"/>
          </a:solidFill>
          <a:ln/>
        </p:spPr>
      </p:sp>
      <p:sp>
        <p:nvSpPr>
          <p:cNvPr id="30" name="Text 28"/>
          <p:cNvSpPr/>
          <p:nvPr/>
        </p:nvSpPr>
        <p:spPr>
          <a:xfrm>
            <a:off x="4462272" y="3877056"/>
            <a:ext cx="365760" cy="237744"/>
          </a:xfrm>
          <a:prstGeom prst="rect">
            <a:avLst/>
          </a:prstGeom>
          <a:noFill/>
          <a:ln/>
        </p:spPr>
        <p:txBody>
          <a:bodyPr wrap="square" rtlCol="0" anchor="ctr"/>
          <a:lstStyle/>
          <a:p>
            <a:pPr indent="0" marL="0">
              <a:buNone/>
            </a:pPr>
            <a:r>
              <a:rPr lang="en-US" sz="1000" b="1" dirty="0">
                <a:solidFill>
                  <a:srgbClr val="C9A84C"/>
                </a:solidFill>
                <a:latin typeface="Calibri" pitchFamily="34" charset="0"/>
                <a:ea typeface="Calibri" pitchFamily="34" charset="-122"/>
                <a:cs typeface="Calibri" pitchFamily="34" charset="-120"/>
              </a:rPr>
              <a:t>04</a:t>
            </a:r>
            <a:endParaRPr lang="en-US" sz="1000" dirty="0"/>
          </a:p>
        </p:txBody>
      </p:sp>
      <p:sp>
        <p:nvSpPr>
          <p:cNvPr id="31" name="Text 29"/>
          <p:cNvSpPr/>
          <p:nvPr/>
        </p:nvSpPr>
        <p:spPr>
          <a:xfrm>
            <a:off x="4846320" y="3877056"/>
            <a:ext cx="3886200" cy="237744"/>
          </a:xfrm>
          <a:prstGeom prst="rect">
            <a:avLst/>
          </a:prstGeom>
          <a:noFill/>
          <a:ln/>
        </p:spPr>
        <p:txBody>
          <a:bodyPr wrap="square" rtlCol="0" anchor="ctr"/>
          <a:lstStyle/>
          <a:p>
            <a:pPr indent="0" marL="0">
              <a:buNone/>
            </a:pPr>
            <a:r>
              <a:rPr lang="en-US" sz="1100" b="1" dirty="0">
                <a:solidFill>
                  <a:srgbClr val="E8E4D9"/>
                </a:solidFill>
                <a:latin typeface="Calibri" pitchFamily="34" charset="0"/>
                <a:ea typeface="Calibri" pitchFamily="34" charset="-122"/>
                <a:cs typeface="Calibri" pitchFamily="34" charset="-120"/>
              </a:rPr>
              <a:t>Objectif 18 Mois</a:t>
            </a:r>
            <a:endParaRPr lang="en-US" sz="1100" dirty="0"/>
          </a:p>
        </p:txBody>
      </p:sp>
      <p:sp>
        <p:nvSpPr>
          <p:cNvPr id="32" name="Text 30"/>
          <p:cNvSpPr/>
          <p:nvPr/>
        </p:nvSpPr>
        <p:spPr>
          <a:xfrm>
            <a:off x="4846320" y="4133088"/>
            <a:ext cx="3886200" cy="347472"/>
          </a:xfrm>
          <a:prstGeom prst="rect">
            <a:avLst/>
          </a:prstGeom>
          <a:noFill/>
          <a:ln/>
        </p:spPr>
        <p:txBody>
          <a:bodyPr wrap="square" rtlCol="0" anchor="t"/>
          <a:lstStyle/>
          <a:p>
            <a:pPr indent="0" marL="0">
              <a:buNone/>
            </a:pPr>
            <a:r>
              <a:rPr lang="en-US" sz="950" dirty="0">
                <a:solidFill>
                  <a:srgbClr val="A89F8A"/>
                </a:solidFill>
                <a:latin typeface="Calibri" pitchFamily="34" charset="0"/>
                <a:ea typeface="Calibri" pitchFamily="34" charset="-122"/>
                <a:cs typeface="Calibri" pitchFamily="34" charset="-120"/>
              </a:rPr>
              <a:t>Atteindre la rentabilité EBITDA positive et 200 000 utilisateurs mensuels en zone CEMAC</a:t>
            </a:r>
            <a:endParaRPr lang="en-US" sz="950" dirty="0"/>
          </a:p>
        </p:txBody>
      </p:sp>
      <p:sp>
        <p:nvSpPr>
          <p:cNvPr id="33" name="Shape 31"/>
          <p:cNvSpPr/>
          <p:nvPr/>
        </p:nvSpPr>
        <p:spPr>
          <a:xfrm>
            <a:off x="4343400" y="4663440"/>
            <a:ext cx="4480560" cy="347472"/>
          </a:xfrm>
          <a:prstGeom prst="rect">
            <a:avLst/>
          </a:prstGeom>
          <a:solidFill>
            <a:srgbClr val="C9A84C"/>
          </a:solidFill>
          <a:ln/>
        </p:spPr>
      </p:sp>
      <p:sp>
        <p:nvSpPr>
          <p:cNvPr id="34" name="Text 32"/>
          <p:cNvSpPr/>
          <p:nvPr/>
        </p:nvSpPr>
        <p:spPr>
          <a:xfrm>
            <a:off x="4434840" y="4700016"/>
            <a:ext cx="4297680" cy="274320"/>
          </a:xfrm>
          <a:prstGeom prst="rect">
            <a:avLst/>
          </a:prstGeom>
          <a:noFill/>
          <a:ln/>
        </p:spPr>
        <p:txBody>
          <a:bodyPr wrap="square" rtlCol="0" anchor="ctr"/>
          <a:lstStyle/>
          <a:p>
            <a:pPr indent="0" marL="0">
              <a:buNone/>
            </a:pPr>
            <a:r>
              <a:rPr lang="en-US" sz="1100" b="1" i="1" dirty="0">
                <a:solidFill>
                  <a:srgbClr val="080A0E"/>
                </a:solidFill>
                <a:latin typeface="Georgia" pitchFamily="34" charset="0"/>
                <a:ea typeface="Georgia" pitchFamily="34" charset="-122"/>
                <a:cs typeface="Georgia" pitchFamily="34" charset="-120"/>
              </a:rPr>
              <a:t>Ce projet est irréversible — la seule question est : qui le fera.</a:t>
            </a:r>
            <a:endParaRPr lang="en-US" sz="1100" dirty="0"/>
          </a:p>
        </p:txBody>
      </p:sp>
      <p:sp>
        <p:nvSpPr>
          <p:cNvPr id="35" name="Text 33"/>
          <p:cNvSpPr/>
          <p:nvPr/>
        </p:nvSpPr>
        <p:spPr>
          <a:xfrm>
            <a:off x="8732520" y="4800600"/>
            <a:ext cx="365760" cy="228600"/>
          </a:xfrm>
          <a:prstGeom prst="rect">
            <a:avLst/>
          </a:prstGeom>
          <a:noFill/>
          <a:ln/>
        </p:spPr>
        <p:txBody>
          <a:bodyPr wrap="square" rtlCol="0" anchor="ctr"/>
          <a:lstStyle/>
          <a:p>
            <a:pPr indent="0" marL="0">
              <a:buNone/>
            </a:pPr>
            <a:r>
              <a:rPr lang="en-US" sz="900" dirty="0">
                <a:solidFill>
                  <a:srgbClr val="6B604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SOPECAM Capital — Note de Présentation au Conseil</dc:title>
  <dc:subject>PptxGenJS Presentation</dc:subject>
  <dc:creator>PptxGenJS</dc:creator>
  <cp:lastModifiedBy>PptxGenJS</cp:lastModifiedBy>
  <cp:revision>1</cp:revision>
  <dcterms:created xsi:type="dcterms:W3CDTF">2026-05-31T19:11:47Z</dcterms:created>
  <dcterms:modified xsi:type="dcterms:W3CDTF">2026-05-31T19:11:47Z</dcterms:modified>
</cp:coreProperties>
</file>